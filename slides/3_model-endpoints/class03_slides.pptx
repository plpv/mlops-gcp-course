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2"/>
  </p:notesMasterIdLst>
  <p:sldIdLst>
    <p:sldId id="265" r:id="rId2"/>
    <p:sldId id="257" r:id="rId3"/>
    <p:sldId id="264" r:id="rId4"/>
    <p:sldId id="263" r:id="rId5"/>
    <p:sldId id="259" r:id="rId6"/>
    <p:sldId id="258" r:id="rId7"/>
    <p:sldId id="262" r:id="rId8"/>
    <p:sldId id="261" r:id="rId9"/>
    <p:sldId id="297" r:id="rId10"/>
    <p:sldId id="399" r:id="rId11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E7CD-833A-4057-A34F-721214C10A5F}" type="datetimeFigureOut">
              <a:rPr lang="fr-FR" smtClean="0"/>
              <a:t>08/03/2026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F3BD9-BA5A-4CBB-9C78-D323B9124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16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8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2" y="5997316"/>
            <a:ext cx="657379" cy="6573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3" y="0"/>
            <a:ext cx="343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95794"/>
            <a:ext cx="11982995" cy="665334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971382" y="3491678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3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72602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020227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1" y="375360"/>
            <a:ext cx="5621956" cy="56219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78" y="5997633"/>
            <a:ext cx="630942" cy="6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8"/>
          <a:stretch/>
        </p:blipFill>
        <p:spPr>
          <a:xfrm>
            <a:off x="5194435" y="0"/>
            <a:ext cx="6995962" cy="68580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H="1">
            <a:off x="6644984" y="1528409"/>
            <a:ext cx="0" cy="38617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455" y="1712640"/>
            <a:ext cx="2669950" cy="86518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11804650" y="6502400"/>
            <a:ext cx="92175" cy="139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6230984" y="234232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6230984" y="357024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6230984" y="4798170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6251284" y="2469035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2</a:t>
            </a:r>
          </a:p>
        </p:txBody>
      </p:sp>
      <p:sp>
        <p:nvSpPr>
          <p:cNvPr id="43" name="Ellipse 42"/>
          <p:cNvSpPr/>
          <p:nvPr/>
        </p:nvSpPr>
        <p:spPr>
          <a:xfrm>
            <a:off x="6230984" y="111440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6251284" y="1171001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1</a:t>
            </a:r>
          </a:p>
        </p:txBody>
      </p:sp>
      <p:sp>
        <p:nvSpPr>
          <p:cNvPr id="57" name="Espace réservé du contenu 7"/>
          <p:cNvSpPr>
            <a:spLocks noGrp="1"/>
          </p:cNvSpPr>
          <p:nvPr>
            <p:ph sz="quarter" idx="27" hasCustomPrompt="1"/>
          </p:nvPr>
        </p:nvSpPr>
        <p:spPr>
          <a:xfrm>
            <a:off x="6251284" y="37032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3</a:t>
            </a:r>
          </a:p>
        </p:txBody>
      </p:sp>
      <p:sp>
        <p:nvSpPr>
          <p:cNvPr id="58" name="Espace réservé du contenu 7"/>
          <p:cNvSpPr>
            <a:spLocks noGrp="1"/>
          </p:cNvSpPr>
          <p:nvPr>
            <p:ph sz="quarter" idx="28" hasCustomPrompt="1"/>
          </p:nvPr>
        </p:nvSpPr>
        <p:spPr>
          <a:xfrm>
            <a:off x="6251284" y="49478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4</a:t>
            </a:r>
          </a:p>
        </p:txBody>
      </p:sp>
      <p:sp>
        <p:nvSpPr>
          <p:cNvPr id="59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7433365" y="11017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0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7433365" y="239926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1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7433365" y="362425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5" name="Espace réservé du texte 14"/>
          <p:cNvSpPr>
            <a:spLocks noGrp="1"/>
          </p:cNvSpPr>
          <p:nvPr>
            <p:ph type="body" sz="quarter" idx="29" hasCustomPrompt="1"/>
          </p:nvPr>
        </p:nvSpPr>
        <p:spPr>
          <a:xfrm>
            <a:off x="7433365" y="486124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024902" y="1637401"/>
            <a:ext cx="87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rgbClr val="C00000"/>
                </a:solidFill>
              </a:rPr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16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5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51" y="0"/>
            <a:ext cx="3530412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69" y="1719879"/>
            <a:ext cx="3219282" cy="3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"/>
          <a:stretch/>
        </p:blipFill>
        <p:spPr>
          <a:xfrm>
            <a:off x="195852" y="0"/>
            <a:ext cx="342849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2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13357" y="2067004"/>
            <a:ext cx="20321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600" dirty="0">
                <a:solidFill>
                  <a:schemeClr val="accent5"/>
                </a:solidFill>
                <a:latin typeface="+mn-lt"/>
              </a:rPr>
              <a:t>.</a:t>
            </a:r>
            <a:endParaRPr lang="fr-FR" sz="14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1" name="Espace réservé du pied de page 3"/>
          <p:cNvSpPr txBox="1">
            <a:spLocks/>
          </p:cNvSpPr>
          <p:nvPr/>
        </p:nvSpPr>
        <p:spPr>
          <a:xfrm>
            <a:off x="357050" y="2603863"/>
            <a:ext cx="1628503" cy="2110019"/>
          </a:xfrm>
          <a:prstGeom prst="rect">
            <a:avLst/>
          </a:prstGeom>
        </p:spPr>
        <p:txBody>
          <a:bodyPr tIns="108000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86282" y="2024158"/>
            <a:ext cx="1454150" cy="2681288"/>
          </a:xfrm>
        </p:spPr>
        <p:txBody>
          <a:bodyPr/>
          <a:lstStyle>
            <a:lvl1pPr marL="0" indent="0">
              <a:buNone/>
              <a:defRPr sz="16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1</a:t>
            </a:r>
          </a:p>
        </p:txBody>
      </p:sp>
      <p:cxnSp>
        <p:nvCxnSpPr>
          <p:cNvPr id="23" name="Connecteur droit 22"/>
          <p:cNvCxnSpPr/>
          <p:nvPr/>
        </p:nvCxnSpPr>
        <p:spPr>
          <a:xfrm>
            <a:off x="4361978" y="3776223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4235081" y="2911036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4235081" y="3776223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914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63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3475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2"/>
          <a:stretch/>
        </p:blipFill>
        <p:spPr>
          <a:xfrm>
            <a:off x="0" y="0"/>
            <a:ext cx="4671753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17341" y="187550"/>
            <a:ext cx="6647610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026429" y="1139602"/>
            <a:ext cx="6638190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26429" y="1568450"/>
            <a:ext cx="6638190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86471" y="2014750"/>
            <a:ext cx="2098811" cy="210836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8" hasCustomPrompt="1"/>
          </p:nvPr>
        </p:nvSpPr>
        <p:spPr>
          <a:xfrm>
            <a:off x="964276" y="4340178"/>
            <a:ext cx="2743200" cy="365125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Insérer une légende</a:t>
            </a:r>
          </a:p>
        </p:txBody>
      </p:sp>
    </p:spTree>
    <p:extLst>
      <p:ext uri="{BB962C8B-B14F-4D97-AF65-F5344CB8AC3E}">
        <p14:creationId xmlns:p14="http://schemas.microsoft.com/office/powerpoint/2010/main" val="1184257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761152" y="1380584"/>
            <a:ext cx="3219797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86102" y="1412468"/>
            <a:ext cx="3219797" cy="4663103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8211052" y="1412468"/>
            <a:ext cx="3219797" cy="4663103"/>
          </a:xfrm>
          <a:prstGeom prst="roundRect">
            <a:avLst>
              <a:gd name="adj" fmla="val 1681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69841" b="43898"/>
          <a:stretch/>
        </p:blipFill>
        <p:spPr>
          <a:xfrm>
            <a:off x="761152" y="1383891"/>
            <a:ext cx="3217876" cy="3042459"/>
          </a:xfrm>
          <a:prstGeom prst="round2SameRect">
            <a:avLst>
              <a:gd name="adj1" fmla="val 1640"/>
              <a:gd name="adj2" fmla="val 0"/>
            </a:avLst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0" t="5408" r="39564" b="43898"/>
          <a:stretch/>
        </p:blipFill>
        <p:spPr>
          <a:xfrm>
            <a:off x="4484181" y="1402941"/>
            <a:ext cx="3220486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5" t="5408" r="9332" b="43898"/>
          <a:stretch/>
        </p:blipFill>
        <p:spPr>
          <a:xfrm>
            <a:off x="8207899" y="1402941"/>
            <a:ext cx="3222101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0" hasCustomPrompt="1"/>
          </p:nvPr>
        </p:nvSpPr>
        <p:spPr>
          <a:xfrm>
            <a:off x="90562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90562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14" hasCustomPrompt="1"/>
          </p:nvPr>
        </p:nvSpPr>
        <p:spPr>
          <a:xfrm>
            <a:off x="460413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15" hasCustomPrompt="1"/>
          </p:nvPr>
        </p:nvSpPr>
        <p:spPr>
          <a:xfrm>
            <a:off x="460413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16" hasCustomPrompt="1"/>
          </p:nvPr>
        </p:nvSpPr>
        <p:spPr>
          <a:xfrm>
            <a:off x="831557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4" name="Espace réservé du texte 26"/>
          <p:cNvSpPr>
            <a:spLocks noGrp="1"/>
          </p:cNvSpPr>
          <p:nvPr>
            <p:ph type="body" sz="quarter" idx="17" hasCustomPrompt="1"/>
          </p:nvPr>
        </p:nvSpPr>
        <p:spPr>
          <a:xfrm>
            <a:off x="831557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</p:spTree>
    <p:extLst>
      <p:ext uri="{BB962C8B-B14F-4D97-AF65-F5344CB8AC3E}">
        <p14:creationId xmlns:p14="http://schemas.microsoft.com/office/powerpoint/2010/main" val="773646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632231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319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778454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2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43529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1" name="Rectangle à coins arrondis 40"/>
          <p:cNvSpPr/>
          <p:nvPr/>
        </p:nvSpPr>
        <p:spPr>
          <a:xfrm>
            <a:off x="3408376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340933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3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54599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4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19674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5" name="Rectangle à coins arrondis 44"/>
          <p:cNvSpPr/>
          <p:nvPr/>
        </p:nvSpPr>
        <p:spPr>
          <a:xfrm>
            <a:off x="6184521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18548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7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6330744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48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6295819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49" name="Rectangle à coins arrondis 48"/>
          <p:cNvSpPr/>
          <p:nvPr/>
        </p:nvSpPr>
        <p:spPr>
          <a:xfrm>
            <a:off x="8960186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96114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51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9106409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52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9071484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51636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632231" y="1369034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1009" y="1359921"/>
            <a:ext cx="3355569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3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4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3" y="145058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4418216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4420659" y="1359920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4604213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787" y="145969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29" name="Rectangle à coins arrondis 28"/>
          <p:cNvSpPr/>
          <p:nvPr/>
        </p:nvSpPr>
        <p:spPr>
          <a:xfrm>
            <a:off x="8204201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205422" y="1369034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2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8390198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8345773" y="1459701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351009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632231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29997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5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26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2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sp>
        <p:nvSpPr>
          <p:cNvPr id="33" name="Rectangle à coins arrondis 32"/>
          <p:cNvSpPr/>
          <p:nvPr/>
        </p:nvSpPr>
        <p:spPr>
          <a:xfrm>
            <a:off x="6426149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423915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5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6612146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/>
              <a:t>Insérer du texte</a:t>
            </a:r>
          </a:p>
        </p:txBody>
      </p:sp>
      <p:sp>
        <p:nvSpPr>
          <p:cNvPr id="36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6567720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900652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50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4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1" y="4003121"/>
            <a:ext cx="6731927" cy="865187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9481" y="5114129"/>
            <a:ext cx="6731927" cy="833151"/>
          </a:xfrm>
        </p:spPr>
        <p:txBody>
          <a:bodyPr wrap="square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697" y="5688431"/>
            <a:ext cx="1545883" cy="74486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425" y="5690607"/>
            <a:ext cx="762375" cy="76237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531" y="2423881"/>
            <a:ext cx="3198631" cy="3199307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7732202" y="4942102"/>
            <a:ext cx="2935287" cy="21839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67442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2" y="187549"/>
            <a:ext cx="11153041" cy="86518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527383" y="1196752"/>
            <a:ext cx="11137237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3" y="1568452"/>
            <a:ext cx="11137237" cy="4467225"/>
          </a:xfrm>
        </p:spPr>
        <p:txBody>
          <a:bodyPr/>
          <a:lstStyle>
            <a:lvl1pPr marL="285744" indent="-285744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196" indent="-285744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106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21" r:id="rId18"/>
    <p:sldLayoutId id="2147483726" r:id="rId19"/>
    <p:sldLayoutId id="2147483731" r:id="rId20"/>
    <p:sldLayoutId id="2147483732" r:id="rId21"/>
    <p:sldLayoutId id="2147483733" r:id="rId2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jdiamant280@headmind.com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70CDA11-74FD-4864-C4E8-9D1ADEA0DE63}"/>
              </a:ext>
            </a:extLst>
          </p:cNvPr>
          <p:cNvSpPr/>
          <p:nvPr/>
        </p:nvSpPr>
        <p:spPr>
          <a:xfrm>
            <a:off x="731520" y="18623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kern="0" spc="4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2400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#3</a:t>
            </a:r>
            <a:endParaRPr lang="en-US" sz="2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E28418B-FF1D-8A3D-2CC8-34E39984AB02}"/>
              </a:ext>
            </a:extLst>
          </p:cNvPr>
          <p:cNvSpPr/>
          <p:nvPr/>
        </p:nvSpPr>
        <p:spPr>
          <a:xfrm>
            <a:off x="731520" y="2692400"/>
            <a:ext cx="705104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Entraîner et déployer un modèle de ML sur GCP avec Vertex AI</a:t>
            </a:r>
            <a:endParaRPr lang="en-US" sz="48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313A041-0152-0682-64C3-8987644B6728}"/>
              </a:ext>
            </a:extLst>
          </p:cNvPr>
          <p:cNvSpPr/>
          <p:nvPr/>
        </p:nvSpPr>
        <p:spPr>
          <a:xfrm>
            <a:off x="731520" y="563118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In-depth: MLOps</a:t>
            </a:r>
          </a:p>
          <a:p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2025/2026 —  ISAE-SUPAERO</a:t>
            </a: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fr-FR" dirty="0"/>
              <a:t>03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dirty="0"/>
              <a:t>02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Docker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Tache d’entrainement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pratique, présentation de Vertex AI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fr-FR" dirty="0"/>
              <a:t>Intérêt, fonctionnement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fr-FR" dirty="0"/>
              <a:t>Intérêt, fonctionnement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fr-FR" dirty="0"/>
              <a:t>01</a:t>
            </a:r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fr-FR" dirty="0"/>
              <a:t>06</a:t>
            </a:r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r>
              <a:rPr lang="fr-FR" dirty="0"/>
              <a:t>05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fr-FR" dirty="0"/>
              <a:t>Inférence par batch vs streaming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fr-FR" dirty="0"/>
              <a:t>Dimensionnement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FR" dirty="0"/>
              <a:t>A/B </a:t>
            </a:r>
            <a:r>
              <a:rPr lang="fr-FR" dirty="0" err="1"/>
              <a:t>testing</a:t>
            </a:r>
            <a:endParaRPr lang="fr-FR" dirty="0"/>
          </a:p>
          <a:p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fr-FR" dirty="0"/>
              <a:t>Déployer plusieurs modèles sur un même </a:t>
            </a:r>
            <a:r>
              <a:rPr lang="fr-FR" dirty="0" err="1"/>
              <a:t>endpoint</a:t>
            </a:r>
            <a:endParaRPr lang="fr-FR" dirty="0"/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fr-FR"/>
              <a:t>Définition</a:t>
            </a:r>
            <a:endParaRPr lang="fr-FR" dirty="0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r>
              <a:rPr lang="fr-FR" dirty="0"/>
              <a:t>04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0596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Docker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2050" name="Picture 2" descr="Docker - au revoir les VMs, bonjour les containers - Le weblogue de Se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5143" y="68445"/>
            <a:ext cx="1189476" cy="98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a Container? | Dock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16" y="1824950"/>
            <a:ext cx="8762710" cy="358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nd that's when Docker happened... : r/ProgrammerHum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08" y="2480877"/>
            <a:ext cx="2558750" cy="227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33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Tache d’entrainement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Pourquoi utiliser un service d’entrainement plutôt que de simplement faire tourner ses notebooks?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Étapes à suivre: </a:t>
            </a:r>
          </a:p>
          <a:p>
            <a:pPr marL="0" indent="0">
              <a:buNone/>
            </a:pPr>
            <a:r>
              <a:rPr lang="fr-FR" dirty="0"/>
              <a:t>1) Configurer les accès aux cloud </a:t>
            </a:r>
            <a:r>
              <a:rPr lang="fr-FR" dirty="0" err="1"/>
              <a:t>storages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2) Conteneuriser le code </a:t>
            </a:r>
          </a:p>
          <a:p>
            <a:pPr marL="0" indent="0">
              <a:buNone/>
            </a:pPr>
            <a:r>
              <a:rPr lang="fr-FR" dirty="0"/>
              <a:t>3) Configurer le lancement des jobs d’entrainement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270" y="1996440"/>
            <a:ext cx="571500" cy="5715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1954952"/>
            <a:ext cx="701040" cy="70104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-293370" y="2670810"/>
            <a:ext cx="12618720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fr-FR" i="1" dirty="0"/>
              <a:t>Modèles qui prennent du temps à s’entrainer</a:t>
            </a:r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r>
              <a:rPr lang="fr-FR" i="1" dirty="0"/>
              <a:t>Modèles qui nécessitent un réentrainement fréquent sur de nouvelles données</a:t>
            </a:r>
          </a:p>
          <a:p>
            <a:pPr algn="ctr"/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401439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Batch vs Streaming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818228" y="2845802"/>
            <a:ext cx="4557487" cy="3132088"/>
          </a:xfrm>
        </p:spPr>
        <p:txBody>
          <a:bodyPr/>
          <a:lstStyle/>
          <a:p>
            <a:r>
              <a:rPr lang="fr-FR" dirty="0"/>
              <a:t>Idée : traiter de grande quantité de données en parallélisant les calculs notamment à l’aide de GPU.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Accélère le traitement de données et optimise l’utilisation des ressources de calculs ce qui réduit les coûts d’utilisation</a:t>
            </a:r>
          </a:p>
          <a:p>
            <a:pPr marL="285750" indent="-285750">
              <a:buFontTx/>
              <a:buChar char="-"/>
            </a:pPr>
            <a:r>
              <a:rPr lang="fr-FR" dirty="0"/>
              <a:t>Entraine des latences à l’inférence.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Exemple : </a:t>
            </a:r>
          </a:p>
          <a:p>
            <a:r>
              <a:rPr lang="fr-FR" dirty="0"/>
              <a:t>Classification d’images, réglage d’</a:t>
            </a:r>
            <a:r>
              <a:rPr lang="fr-FR" dirty="0" err="1"/>
              <a:t>hyperparamètres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Inférence en batch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6612146" y="2845802"/>
            <a:ext cx="4557487" cy="3131486"/>
          </a:xfrm>
        </p:spPr>
        <p:txBody>
          <a:bodyPr/>
          <a:lstStyle/>
          <a:p>
            <a:r>
              <a:rPr lang="fr-FR" dirty="0"/>
              <a:t>Idée : traiter les données en temps réel au fur et à mesure qu’elles sont collectées.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Temps réel</a:t>
            </a:r>
          </a:p>
          <a:p>
            <a:pPr marL="285750" indent="-285750">
              <a:buFontTx/>
              <a:buChar char="-"/>
            </a:pPr>
            <a:r>
              <a:rPr lang="fr-FR" dirty="0"/>
              <a:t>Nécessite une pipeline de </a:t>
            </a:r>
            <a:r>
              <a:rPr lang="fr-FR" dirty="0" err="1"/>
              <a:t>préprocessing</a:t>
            </a:r>
            <a:r>
              <a:rPr lang="fr-FR" dirty="0"/>
              <a:t> efficace</a:t>
            </a:r>
          </a:p>
          <a:p>
            <a:pPr marL="285750" indent="-285750">
              <a:buFontTx/>
              <a:buChar char="-"/>
            </a:pPr>
            <a:r>
              <a:rPr lang="fr-FR" dirty="0"/>
              <a:t>L’exigence de temps réel ou quasi-réel limite la complexité des modèles à utiliser.</a:t>
            </a:r>
          </a:p>
          <a:p>
            <a:endParaRPr lang="fr-FR" dirty="0"/>
          </a:p>
          <a:p>
            <a:r>
              <a:rPr lang="fr-FR" dirty="0"/>
              <a:t>Exemple :</a:t>
            </a:r>
          </a:p>
          <a:p>
            <a:r>
              <a:rPr lang="fr-FR" dirty="0"/>
              <a:t>Système de recommandation, détection d’anomalies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/>
              <a:t>Streaming sur un </a:t>
            </a:r>
            <a:r>
              <a:rPr lang="fr-FR" dirty="0" err="1"/>
              <a:t>endpoint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40" y="2069249"/>
            <a:ext cx="735330" cy="73533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390" y="2122589"/>
            <a:ext cx="6286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Dimensionnement d’une machine virtuelle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texte 2"/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/>
              <a:lstStyle/>
              <a:p>
                <a:pPr>
                  <a:buFontTx/>
                  <a:buChar char="-"/>
                </a:pPr>
                <a:r>
                  <a:rPr lang="fr-FR" dirty="0"/>
                  <a:t>Choisir le nombre de Processeurs Virtuels (</a:t>
                </a:r>
                <a:r>
                  <a:rPr lang="fr-FR" dirty="0" err="1"/>
                  <a:t>vCPU</a:t>
                </a:r>
                <a:r>
                  <a:rPr lang="fr-FR" dirty="0"/>
                  <a:t>)</a:t>
                </a:r>
              </a:p>
              <a:p>
                <a:pPr>
                  <a:buFontTx/>
                  <a:buChar char="-"/>
                </a:pPr>
                <a:r>
                  <a:rPr lang="fr-FR" dirty="0"/>
                  <a:t>Choisir la quantité de mémoire</a:t>
                </a:r>
              </a:p>
              <a:p>
                <a:pPr>
                  <a:buFontTx/>
                  <a:buChar char="-"/>
                </a:pPr>
                <a:r>
                  <a:rPr lang="fr-FR" dirty="0"/>
                  <a:t>Choisir le type et nombre de GPU à utiliser</a:t>
                </a:r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Estimer le nombre moyen de requêtes concourantes :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𝑐𝑜𝑛𝑐𝑢𝑟𝑟𝑒𝑛𝑡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𝑞𝑢𝑒𝑟𝑦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𝑠𝑒𝑐𝑜𝑛𝑑𝑠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𝑎𝑣𝑒𝑟𝑎𝑔𝑒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𝑙𝑎𝑡𝑒𝑛𝑐𝑦</m:t>
                        </m:r>
                      </m:den>
                    </m:f>
                  </m:oMath>
                </a14:m>
                <a:endParaRPr lang="fr-FR" dirty="0"/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>
                  <a:buFontTx/>
                  <a:buChar char="-"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sz="1200" dirty="0"/>
                  <a:t>https://github.com/GoogleCloudPlatform/vertex-ai-samples/blob/main/notebooks/community/vertex_endpoints/find_ideal_machine_type/find_ideal_machine_type.ipynb</a:t>
                </a:r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text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2"/>
                <a:stretch>
                  <a:fillRect l="-602" t="-12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229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instances « spot »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Les instances « spot » permettent de réaliser des calculs à grande échelle à des prix très réduits (Jusqu’à 90% moins cher). En revanche, leur disponibilité continue n’est pas assurée et des interruptions dans les calculs peuvent provoquer des pertes de données. </a:t>
            </a:r>
          </a:p>
          <a:p>
            <a:pPr>
              <a:buFontTx/>
              <a:buChar char="-"/>
            </a:pPr>
            <a:r>
              <a:rPr lang="fr-FR" dirty="0"/>
              <a:t>Seulement pour des jobs tolérants aux pannes</a:t>
            </a:r>
          </a:p>
          <a:p>
            <a:pPr>
              <a:buFontTx/>
              <a:buChar char="-"/>
            </a:pPr>
            <a:r>
              <a:rPr lang="fr-FR" dirty="0"/>
              <a:t>Mettre en place des checkpoints dans le code source</a:t>
            </a:r>
          </a:p>
          <a:p>
            <a:pPr>
              <a:buFontTx/>
              <a:buChar char="-"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519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A/B </a:t>
            </a:r>
            <a:r>
              <a:rPr lang="fr-FR" dirty="0" err="1"/>
              <a:t>testing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 | </a:t>
            </a:r>
            <a:r>
              <a:rPr lang="en-US" dirty="0" err="1"/>
              <a:t>Confidentiel</a:t>
            </a:r>
            <a:endParaRPr lang="fr-FR" dirty="0"/>
          </a:p>
        </p:txBody>
      </p:sp>
      <p:pic>
        <p:nvPicPr>
          <p:cNvPr id="1026" name="Picture 2" descr="https://www.zentao.pm/file.php?f=zentaopm/202305/f_ec1801afe94c02a11063fc991d274692&amp;t=png&amp;o=&amp;s=&amp;v=16837189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47" y="1172039"/>
            <a:ext cx="7911966" cy="531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616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— Notebooks de la séance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2627B01-911E-8CEC-547D-2DC483113344}"/>
              </a:ext>
            </a:extLst>
          </p:cNvPr>
          <p:cNvSpPr/>
          <p:nvPr/>
        </p:nvSpPr>
        <p:spPr>
          <a:xfrm>
            <a:off x="731520" y="1584960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0B6BC73-6E59-3C4C-A54C-E29BAD27F1A5}"/>
              </a:ext>
            </a:extLst>
          </p:cNvPr>
          <p:cNvSpPr/>
          <p:nvPr/>
        </p:nvSpPr>
        <p:spPr>
          <a:xfrm>
            <a:off x="731520" y="1584960"/>
            <a:ext cx="71120" cy="1666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76D05D1-5449-30A9-BBB6-251918712253}"/>
              </a:ext>
            </a:extLst>
          </p:cNvPr>
          <p:cNvSpPr/>
          <p:nvPr/>
        </p:nvSpPr>
        <p:spPr>
          <a:xfrm>
            <a:off x="1036320" y="1625600"/>
            <a:ext cx="8341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Lab 03a — Custom Training &amp; Batch Inference </a:t>
            </a:r>
            <a:r>
              <a:rPr lang="en-US" sz="2133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(~1h00)</a:t>
            </a:r>
            <a:endParaRPr lang="en-US" sz="2133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096B3F-653A-74D1-DF63-A674F6F87645}"/>
              </a:ext>
            </a:extLst>
          </p:cNvPr>
          <p:cNvSpPr/>
          <p:nvPr/>
        </p:nvSpPr>
        <p:spPr>
          <a:xfrm>
            <a:off x="1584960" y="2153920"/>
            <a:ext cx="9592444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Écrire un script d'entraînement compatible Vertex AI</a:t>
            </a:r>
          </a:p>
          <a:p>
            <a:r>
              <a:rPr lang="fr-FR" sz="1600" dirty="0"/>
              <a:t>•  Soumettre un job d’entraînement sur un conteneur </a:t>
            </a:r>
            <a:r>
              <a:rPr lang="fr-FR" sz="1600" dirty="0" err="1"/>
              <a:t>pré-construit</a:t>
            </a:r>
            <a:r>
              <a:rPr lang="fr-FR" sz="1600" dirty="0"/>
              <a:t> </a:t>
            </a:r>
          </a:p>
          <a:p>
            <a:r>
              <a:rPr lang="fr-FR" sz="1600" dirty="0"/>
              <a:t>•  Préparer des données et lancer un job en </a:t>
            </a:r>
            <a:r>
              <a:rPr lang="fr-FR" sz="1600" dirty="0" err="1"/>
              <a:t>batching</a:t>
            </a:r>
            <a:endParaRPr lang="fr-FR" sz="1600" dirty="0"/>
          </a:p>
          <a:p>
            <a:r>
              <a:rPr lang="fr-FR" sz="1600" dirty="0"/>
              <a:t>•  ⚠️ Ne pas supprimer le modèle à la fin — il est réutilisé dans le notebook suivant</a:t>
            </a:r>
          </a:p>
          <a:p>
            <a:endParaRPr lang="en-US" sz="16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0393EDF-0204-CA99-FBB9-FC63FFCE390B}"/>
              </a:ext>
            </a:extLst>
          </p:cNvPr>
          <p:cNvSpPr/>
          <p:nvPr/>
        </p:nvSpPr>
        <p:spPr>
          <a:xfrm>
            <a:off x="731520" y="3761244"/>
            <a:ext cx="10810240" cy="166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2BA00854-3765-2EC2-F0E0-DE600878FE9D}"/>
              </a:ext>
            </a:extLst>
          </p:cNvPr>
          <p:cNvSpPr/>
          <p:nvPr/>
        </p:nvSpPr>
        <p:spPr>
          <a:xfrm>
            <a:off x="731520" y="3761244"/>
            <a:ext cx="71120" cy="1666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6F3EAC5-2590-B10E-0325-B21854EC918C}"/>
              </a:ext>
            </a:extLst>
          </p:cNvPr>
          <p:cNvSpPr/>
          <p:nvPr/>
        </p:nvSpPr>
        <p:spPr>
          <a:xfrm>
            <a:off x="1036320" y="3801884"/>
            <a:ext cx="741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Lab 03b — Online Endpoints &amp; Load Testing </a:t>
            </a:r>
            <a:r>
              <a:rPr lang="en-US" sz="2133" dirty="0">
                <a:solidFill>
                  <a:srgbClr val="10B981"/>
                </a:solidFill>
                <a:ea typeface="Trebuchet MS" pitchFamily="34" charset="-122"/>
                <a:cs typeface="Trebuchet MS" pitchFamily="34" charset="-120"/>
              </a:rPr>
              <a:t>(~1h15)</a:t>
            </a:r>
            <a:endParaRPr lang="en-US" sz="2133" dirty="0">
              <a:solidFill>
                <a:srgbClr val="10B981"/>
              </a:solidFill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A92AF0D-ED1A-A40F-6F08-DB0527143D99}"/>
              </a:ext>
            </a:extLst>
          </p:cNvPr>
          <p:cNvSpPr/>
          <p:nvPr/>
        </p:nvSpPr>
        <p:spPr>
          <a:xfrm>
            <a:off x="1584960" y="4330204"/>
            <a:ext cx="865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600" dirty="0"/>
              <a:t>•  Déployer un modèle avec </a:t>
            </a:r>
            <a:r>
              <a:rPr lang="fr-FR" sz="1600" dirty="0" err="1"/>
              <a:t>traffic</a:t>
            </a:r>
            <a:r>
              <a:rPr lang="fr-FR" sz="1600" dirty="0"/>
              <a:t> </a:t>
            </a:r>
            <a:r>
              <a:rPr lang="fr-FR" sz="1600" dirty="0" err="1"/>
              <a:t>splitting</a:t>
            </a:r>
            <a:r>
              <a:rPr lang="fr-FR" sz="1600" dirty="0"/>
              <a:t> et </a:t>
            </a:r>
            <a:r>
              <a:rPr lang="fr-FR" sz="1600" dirty="0" err="1"/>
              <a:t>autoscaling</a:t>
            </a:r>
            <a:endParaRPr lang="fr-FR" sz="1600" dirty="0"/>
          </a:p>
          <a:p>
            <a:r>
              <a:rPr lang="fr-FR" sz="1600" dirty="0"/>
              <a:t>•  Envoyer des prédictions en temps réel via le SDK</a:t>
            </a:r>
          </a:p>
          <a:p>
            <a:r>
              <a:rPr lang="fr-FR" sz="1600" dirty="0"/>
              <a:t>•  Construire un </a:t>
            </a:r>
            <a:r>
              <a:rPr lang="fr-FR" sz="1600" dirty="0" err="1"/>
              <a:t>wrapper</a:t>
            </a:r>
            <a:r>
              <a:rPr lang="fr-FR" sz="1600" dirty="0"/>
              <a:t> </a:t>
            </a:r>
            <a:r>
              <a:rPr lang="fr-FR" sz="1600" dirty="0" err="1"/>
              <a:t>FastAPI</a:t>
            </a:r>
            <a:r>
              <a:rPr lang="fr-FR" sz="1600" dirty="0"/>
              <a:t> devant </a:t>
            </a:r>
            <a:r>
              <a:rPr lang="fr-FR" sz="1600" dirty="0" err="1"/>
              <a:t>l'endpoint</a:t>
            </a:r>
            <a:r>
              <a:rPr lang="fr-FR" sz="1600" dirty="0"/>
              <a:t> Vertex AI</a:t>
            </a:r>
          </a:p>
          <a:p>
            <a:r>
              <a:rPr lang="fr-FR" sz="1600" dirty="0"/>
              <a:t>•  Tester la montée en charge avec </a:t>
            </a:r>
            <a:r>
              <a:rPr lang="fr-FR" sz="1600" dirty="0" err="1"/>
              <a:t>Locust</a:t>
            </a:r>
            <a:r>
              <a:rPr lang="fr-FR" sz="1600" dirty="0"/>
              <a:t> (5, 20, 50 utilisateurs simultanés)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45510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— Notebooks de la séance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4CE7AE-AFA1-CBB6-AB21-37A3D79C9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568" y="1350738"/>
            <a:ext cx="11137237" cy="4857023"/>
          </a:xfrm>
        </p:spPr>
        <p:txBody>
          <a:bodyPr/>
          <a:lstStyle/>
          <a:p>
            <a:pPr marL="0" indent="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dirty="0">
                <a:latin typeface="+mn-lt"/>
              </a:rPr>
              <a:t>Les notebooks seront à envoyer par mail :          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jdiamant280@headmind.com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fr-FR" sz="2400" b="1" dirty="0">
                <a:latin typeface="+mn-lt"/>
              </a:rPr>
              <a:t>A vous de jouer !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27326432"/>
      </p:ext>
    </p:extLst>
  </p:cSld>
  <p:clrMapOvr>
    <a:masterClrMapping/>
  </p:clrMapOvr>
</p:sld>
</file>

<file path=ppt/theme/theme1.xml><?xml version="1.0" encoding="utf-8"?>
<a:theme xmlns:a="http://schemas.openxmlformats.org/drawingml/2006/main" name="NEW HeadMind Partners">
  <a:themeElements>
    <a:clrScheme name="Personnalisé 2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3057"/>
      </a:accent1>
      <a:accent2>
        <a:srgbClr val="0F4379"/>
      </a:accent2>
      <a:accent3>
        <a:srgbClr val="007DBA"/>
      </a:accent3>
      <a:accent4>
        <a:srgbClr val="5BC2E7"/>
      </a:accent4>
      <a:accent5>
        <a:srgbClr val="C00000"/>
      </a:accent5>
      <a:accent6>
        <a:srgbClr val="FFFFFF"/>
      </a:accent6>
      <a:hlink>
        <a:srgbClr val="C00000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 HeadMind Partners 2024" id="{455D27FD-681B-4269-9DB4-E515FEB5C9D5}" vid="{99F535D0-B694-43D3-A926-E22BF183EB1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 HeadMind Partners 2024</Template>
  <TotalTime>708</TotalTime>
  <Words>620</Words>
  <Application>Microsoft Office PowerPoint</Application>
  <PresentationFormat>Grand écran</PresentationFormat>
  <Paragraphs>115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9" baseType="lpstr">
      <vt:lpstr>Arial</vt:lpstr>
      <vt:lpstr>Browallia New</vt:lpstr>
      <vt:lpstr>Calibri</vt:lpstr>
      <vt:lpstr>Cambria Math</vt:lpstr>
      <vt:lpstr>Franklin Gothic Book</vt:lpstr>
      <vt:lpstr>Segoe UI</vt:lpstr>
      <vt:lpstr>Segoe UI Semibold</vt:lpstr>
      <vt:lpstr>Trebuchet MS</vt:lpstr>
      <vt:lpstr>NEW HeadMind Partners</vt:lpstr>
      <vt:lpstr>Présentation PowerPoint</vt:lpstr>
      <vt:lpstr>Présentation PowerPoint</vt:lpstr>
      <vt:lpstr>Docker</vt:lpstr>
      <vt:lpstr>Tache d’entrainement</vt:lpstr>
      <vt:lpstr>Batch vs Streaming</vt:lpstr>
      <vt:lpstr>Dimensionnement d’une machine virtuelle</vt:lpstr>
      <vt:lpstr>Les instances « spot »</vt:lpstr>
      <vt:lpstr>A/B testing</vt:lpstr>
      <vt:lpstr>TP — Notebooks de la séance</vt:lpstr>
      <vt:lpstr>TP — Notebooks de la séance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Entraîner et déployer un modèle de ML sur GCP avec Vertex AI</dc:title>
  <dc:creator>Hochedez, Arthur</dc:creator>
  <cp:lastModifiedBy>Diamant, Jean</cp:lastModifiedBy>
  <cp:revision>32</cp:revision>
  <dcterms:created xsi:type="dcterms:W3CDTF">2025-02-11T16:41:08Z</dcterms:created>
  <dcterms:modified xsi:type="dcterms:W3CDTF">2026-03-08T16:59:58Z</dcterms:modified>
</cp:coreProperties>
</file>