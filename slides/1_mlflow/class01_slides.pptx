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87" r:id="rId3"/>
    <p:sldId id="295" r:id="rId4"/>
    <p:sldId id="279" r:id="rId5"/>
    <p:sldId id="280" r:id="rId6"/>
    <p:sldId id="285" r:id="rId7"/>
    <p:sldId id="289" r:id="rId8"/>
    <p:sldId id="282" r:id="rId9"/>
    <p:sldId id="290" r:id="rId10"/>
    <p:sldId id="293" r:id="rId11"/>
    <p:sldId id="291" r:id="rId12"/>
    <p:sldId id="283" r:id="rId13"/>
    <p:sldId id="258" r:id="rId14"/>
    <p:sldId id="272" r:id="rId15"/>
    <p:sldId id="269" r:id="rId16"/>
    <p:sldId id="270" r:id="rId17"/>
    <p:sldId id="297" r:id="rId18"/>
    <p:sldId id="399" r:id="rId19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57"/>
    <a:srgbClr val="5799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4" d="100"/>
          <a:sy n="84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33786-69FA-47D8-964E-2BB12BEAF6E1}" type="datetimeFigureOut">
              <a:rPr lang="fr-FR" smtClean="0"/>
              <a:t>08/03/2026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A020F-C331-477F-875F-7DD533CFCB4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84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3A020F-C331-477F-875F-7DD533CFCB4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20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389611" y="3002341"/>
            <a:ext cx="5048945" cy="648890"/>
          </a:xfrm>
        </p:spPr>
        <p:txBody>
          <a:bodyPr/>
          <a:lstStyle>
            <a:lvl1pPr>
              <a:defRPr sz="2700">
                <a:solidFill>
                  <a:schemeClr val="bg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389611" y="3835596"/>
            <a:ext cx="5048945" cy="624863"/>
          </a:xfrm>
        </p:spPr>
        <p:txBody>
          <a:bodyPr wrap="square">
            <a:noAutofit/>
          </a:bodyPr>
          <a:lstStyle>
            <a:lvl1pPr marL="0" marR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noProof="0" dirty="0"/>
              <a:t>Insérer un niveau de sous-titre</a:t>
            </a:r>
          </a:p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fr-FR" noProof="0" dirty="0"/>
          </a:p>
        </p:txBody>
      </p:sp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523" y="4266323"/>
            <a:ext cx="1159412" cy="558645"/>
          </a:xfrm>
          <a:prstGeom prst="rect">
            <a:avLst/>
          </a:prstGeom>
        </p:spPr>
      </p:pic>
      <p:pic>
        <p:nvPicPr>
          <p:cNvPr id="22" name="Image 2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569" y="4267955"/>
            <a:ext cx="571781" cy="571781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399" y="1817912"/>
            <a:ext cx="2398973" cy="2399480"/>
          </a:xfrm>
          <a:prstGeom prst="rect">
            <a:avLst/>
          </a:prstGeom>
        </p:spPr>
      </p:pic>
      <p:sp>
        <p:nvSpPr>
          <p:cNvPr id="16" name="ZoneTexte 15"/>
          <p:cNvSpPr txBox="1"/>
          <p:nvPr userDrawn="1"/>
        </p:nvSpPr>
        <p:spPr>
          <a:xfrm>
            <a:off x="5799152" y="3706593"/>
            <a:ext cx="2201465" cy="163763"/>
          </a:xfrm>
          <a:prstGeom prst="rect">
            <a:avLst/>
          </a:prstGeom>
          <a:noFill/>
        </p:spPr>
        <p:txBody>
          <a:bodyPr wrap="square" lIns="27000" tIns="0" rIns="27000" bIns="0" rtlCol="0" anchor="ctr">
            <a:spAutoFit/>
          </a:bodyPr>
          <a:lstStyle/>
          <a:p>
            <a:pPr marL="0" marR="0" lvl="0" indent="0" algn="ctr" defTabSz="685783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050" dirty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BLOCKCHAIN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87255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eur droit 2"/>
          <p:cNvCxnSpPr/>
          <p:nvPr userDrawn="1"/>
        </p:nvCxnSpPr>
        <p:spPr>
          <a:xfrm flipH="1">
            <a:off x="2914650" y="1576162"/>
            <a:ext cx="1164" cy="149580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76" y="1403456"/>
            <a:ext cx="1878419" cy="1878419"/>
          </a:xfrm>
          <a:prstGeom prst="rect">
            <a:avLst/>
          </a:prstGeom>
        </p:spPr>
      </p:pic>
      <p:sp>
        <p:nvSpPr>
          <p:cNvPr id="7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3329862" y="1577266"/>
            <a:ext cx="5022558" cy="1530799"/>
          </a:xfrm>
        </p:spPr>
        <p:txBody>
          <a:bodyPr anchor="ctr"/>
          <a:lstStyle>
            <a:lvl1pPr marL="0" indent="0">
              <a:buNone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6130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space réservé du contenu 7"/>
          <p:cNvSpPr>
            <a:spLocks noGrp="1"/>
          </p:cNvSpPr>
          <p:nvPr>
            <p:ph sz="quarter" idx="27"/>
          </p:nvPr>
        </p:nvSpPr>
        <p:spPr>
          <a:xfrm>
            <a:off x="377477" y="344171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4" name="Espace réservé du contenu 7"/>
          <p:cNvSpPr>
            <a:spLocks noGrp="1"/>
          </p:cNvSpPr>
          <p:nvPr>
            <p:ph sz="quarter" idx="26" hasCustomPrompt="1"/>
          </p:nvPr>
        </p:nvSpPr>
        <p:spPr>
          <a:xfrm>
            <a:off x="377477" y="2316677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 dirty="0"/>
              <a:t>02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1279264" y="1146309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3" name="Espace réservé du texte 14"/>
          <p:cNvSpPr>
            <a:spLocks noGrp="1"/>
          </p:cNvSpPr>
          <p:nvPr>
            <p:ph type="body" sz="quarter" idx="14" hasCustomPrompt="1"/>
          </p:nvPr>
        </p:nvSpPr>
        <p:spPr>
          <a:xfrm>
            <a:off x="1279264" y="2291782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24" name="Espace réservé du texte 14"/>
          <p:cNvSpPr>
            <a:spLocks noGrp="1"/>
          </p:cNvSpPr>
          <p:nvPr>
            <p:ph type="body" sz="quarter" idx="15" hasCustomPrompt="1"/>
          </p:nvPr>
        </p:nvSpPr>
        <p:spPr>
          <a:xfrm>
            <a:off x="1279264" y="3436301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9" hasCustomPrompt="1"/>
          </p:nvPr>
        </p:nvSpPr>
        <p:spPr>
          <a:xfrm>
            <a:off x="1279263" y="1701512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30" name="Espace réservé du texte 5"/>
          <p:cNvSpPr>
            <a:spLocks noGrp="1"/>
          </p:cNvSpPr>
          <p:nvPr>
            <p:ph type="body" sz="quarter" idx="22" hasCustomPrompt="1"/>
          </p:nvPr>
        </p:nvSpPr>
        <p:spPr>
          <a:xfrm>
            <a:off x="1279263" y="2834705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1" name="Espace réservé du texte 5"/>
          <p:cNvSpPr>
            <a:spLocks noGrp="1"/>
          </p:cNvSpPr>
          <p:nvPr>
            <p:ph type="body" sz="quarter" idx="23" hasCustomPrompt="1"/>
          </p:nvPr>
        </p:nvSpPr>
        <p:spPr>
          <a:xfrm>
            <a:off x="1279263" y="3978059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4" hasCustomPrompt="1"/>
          </p:nvPr>
        </p:nvSpPr>
        <p:spPr>
          <a:xfrm>
            <a:off x="377477" y="119960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 dirty="0"/>
              <a:t>01</a:t>
            </a:r>
          </a:p>
        </p:txBody>
      </p:sp>
      <p:sp>
        <p:nvSpPr>
          <p:cNvPr id="46" name="Espace réservé du contenu 7"/>
          <p:cNvSpPr>
            <a:spLocks noGrp="1"/>
          </p:cNvSpPr>
          <p:nvPr>
            <p:ph sz="quarter" idx="28"/>
          </p:nvPr>
        </p:nvSpPr>
        <p:spPr>
          <a:xfrm>
            <a:off x="4901106" y="344171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7" name="Espace réservé du contenu 7"/>
          <p:cNvSpPr>
            <a:spLocks noGrp="1"/>
          </p:cNvSpPr>
          <p:nvPr>
            <p:ph sz="quarter" idx="29"/>
          </p:nvPr>
        </p:nvSpPr>
        <p:spPr>
          <a:xfrm>
            <a:off x="4901106" y="2316677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8" name="Espace réservé du texte 14"/>
          <p:cNvSpPr>
            <a:spLocks noGrp="1"/>
          </p:cNvSpPr>
          <p:nvPr>
            <p:ph type="body" sz="quarter" idx="30" hasCustomPrompt="1"/>
          </p:nvPr>
        </p:nvSpPr>
        <p:spPr>
          <a:xfrm>
            <a:off x="5802894" y="1146309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9" name="Espace réservé du texte 14"/>
          <p:cNvSpPr>
            <a:spLocks noGrp="1"/>
          </p:cNvSpPr>
          <p:nvPr>
            <p:ph type="body" sz="quarter" idx="31" hasCustomPrompt="1"/>
          </p:nvPr>
        </p:nvSpPr>
        <p:spPr>
          <a:xfrm>
            <a:off x="5802892" y="2291782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0" name="Espace réservé du texte 14"/>
          <p:cNvSpPr>
            <a:spLocks noGrp="1"/>
          </p:cNvSpPr>
          <p:nvPr>
            <p:ph type="body" sz="quarter" idx="32" hasCustomPrompt="1"/>
          </p:nvPr>
        </p:nvSpPr>
        <p:spPr>
          <a:xfrm>
            <a:off x="5802892" y="3436301"/>
            <a:ext cx="1902524" cy="532082"/>
          </a:xfrm>
        </p:spPr>
        <p:txBody>
          <a:bodyPr anchor="ctr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buFont typeface="Browallia New" panose="020B0604020202020204" pitchFamily="34" charset="-34"/>
              <a:buChar char="›"/>
              <a:defRPr sz="1200"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defRPr sz="1050"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buFont typeface="Calibri" panose="020F0502020204030204" pitchFamily="34" charset="0"/>
              <a:buChar char="−"/>
              <a:defRPr sz="1050"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51" name="Espace réservé du texte 5"/>
          <p:cNvSpPr>
            <a:spLocks noGrp="1"/>
          </p:cNvSpPr>
          <p:nvPr>
            <p:ph type="body" sz="quarter" idx="33" hasCustomPrompt="1"/>
          </p:nvPr>
        </p:nvSpPr>
        <p:spPr>
          <a:xfrm>
            <a:off x="5802894" y="1701512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2" name="Espace réservé du texte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2894" y="2834705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3" name="Espace réservé du texte 5"/>
          <p:cNvSpPr>
            <a:spLocks noGrp="1"/>
          </p:cNvSpPr>
          <p:nvPr>
            <p:ph type="body" sz="quarter" idx="35" hasCustomPrompt="1"/>
          </p:nvPr>
        </p:nvSpPr>
        <p:spPr>
          <a:xfrm>
            <a:off x="5802893" y="3978059"/>
            <a:ext cx="2931226" cy="483138"/>
          </a:xfrm>
        </p:spPr>
        <p:txBody>
          <a:bodyPr anchor="ctr"/>
          <a:lstStyle>
            <a:lvl1pPr marL="214308" indent="-214308">
              <a:buFont typeface="Segoe UI" panose="020B0502040204020203" pitchFamily="34" charset="0"/>
              <a:buChar char="›"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54" name="Espace réservé du contenu 7"/>
          <p:cNvSpPr>
            <a:spLocks noGrp="1"/>
          </p:cNvSpPr>
          <p:nvPr>
            <p:ph sz="quarter" idx="36"/>
          </p:nvPr>
        </p:nvSpPr>
        <p:spPr>
          <a:xfrm>
            <a:off x="4901106" y="1199600"/>
            <a:ext cx="590550" cy="427435"/>
          </a:xfrm>
        </p:spPr>
        <p:txBody>
          <a:bodyPr/>
          <a:lstStyle>
            <a:lvl1pPr marL="0" indent="0" algn="ctr">
              <a:buNone/>
              <a:defRPr sz="2700">
                <a:latin typeface="+mj-lt"/>
              </a:defRPr>
            </a:lvl1pPr>
            <a:lvl2pPr marL="202401" indent="0">
              <a:buNone/>
              <a:defRPr sz="3750">
                <a:latin typeface="+mj-lt"/>
              </a:defRPr>
            </a:lvl2pPr>
            <a:lvl3pPr marL="433377" indent="0">
              <a:buNone/>
              <a:defRPr sz="3750"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 sz="3750"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 sz="3750"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49731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9" t="7916"/>
          <a:stretch/>
        </p:blipFill>
        <p:spPr>
          <a:xfrm>
            <a:off x="130360" y="106229"/>
            <a:ext cx="3496970" cy="2900002"/>
          </a:xfrm>
          <a:prstGeom prst="rect">
            <a:avLst/>
          </a:prstGeom>
        </p:spPr>
      </p:pic>
      <p:sp>
        <p:nvSpPr>
          <p:cNvPr id="1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4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860184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2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3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5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7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" y="7219"/>
            <a:ext cx="2907140" cy="2903372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4045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28" y="123539"/>
            <a:ext cx="2583600" cy="2639428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9504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Dig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3" name="Image 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2" y="247818"/>
            <a:ext cx="3137314" cy="2639428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2452641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Cy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6" y="87759"/>
            <a:ext cx="3002463" cy="2903371"/>
          </a:xfrm>
          <a:prstGeom prst="rect">
            <a:avLst/>
          </a:prstGeom>
        </p:spPr>
      </p:pic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87419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Titre-Graphè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5"/>
          <a:stretch/>
        </p:blipFill>
        <p:spPr>
          <a:xfrm>
            <a:off x="0" y="3030279"/>
            <a:ext cx="9144000" cy="2113221"/>
          </a:xfrm>
          <a:prstGeom prst="rect">
            <a:avLst/>
          </a:prstGeom>
        </p:spPr>
      </p:pic>
      <p:sp>
        <p:nvSpPr>
          <p:cNvPr id="1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1" name="Titre 1"/>
          <p:cNvSpPr>
            <a:spLocks noGrp="1"/>
          </p:cNvSpPr>
          <p:nvPr>
            <p:ph type="title"/>
          </p:nvPr>
        </p:nvSpPr>
        <p:spPr>
          <a:xfrm>
            <a:off x="3668800" y="1742836"/>
            <a:ext cx="5037594" cy="648890"/>
          </a:xfrm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23" name="Espace réservé du numéro de diapositive 2"/>
          <p:cNvSpPr txBox="1">
            <a:spLocks/>
          </p:cNvSpPr>
          <p:nvPr userDrawn="1"/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81000" rIns="0"/>
          <a:lstStyle>
            <a:defPPr>
              <a:defRPr lang="fr-FR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4FEB08F-923E-484A-9FC5-0AA7BDA29BD6}" type="slidenum">
              <a:rPr lang="fr-FR" sz="900" smtClean="0"/>
              <a:pPr>
                <a:defRPr/>
              </a:pPr>
              <a:t>‹N°›</a:t>
            </a:fld>
            <a:endParaRPr lang="fr-FR" sz="900" dirty="0"/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0"/>
          </p:nvPr>
        </p:nvSpPr>
        <p:spPr>
          <a:xfrm>
            <a:off x="3668800" y="3344549"/>
            <a:ext cx="5037594" cy="846128"/>
          </a:xfrm>
        </p:spPr>
        <p:txBody>
          <a:bodyPr/>
          <a:lstStyle>
            <a:lvl1pPr marL="0" indent="0">
              <a:buNone/>
              <a:defRPr sz="2100">
                <a:solidFill>
                  <a:schemeClr val="bg1"/>
                </a:solidFill>
                <a:latin typeface="+mn-lt"/>
              </a:defRPr>
            </a:lvl1pPr>
            <a:lvl2pPr marL="202401" indent="0">
              <a:buNone/>
              <a:defRPr sz="1500">
                <a:solidFill>
                  <a:schemeClr val="bg1"/>
                </a:solidFill>
                <a:latin typeface="+mn-lt"/>
              </a:defRPr>
            </a:lvl2pPr>
            <a:lvl3pPr>
              <a:defRPr sz="1350">
                <a:solidFill>
                  <a:schemeClr val="bg1"/>
                </a:solidFill>
                <a:latin typeface="+mn-lt"/>
              </a:defRPr>
            </a:lvl3pPr>
            <a:lvl4pPr>
              <a:defRPr sz="1350"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6384"/>
            <a:ext cx="3102061" cy="2843159"/>
          </a:xfrm>
          <a:prstGeom prst="rect">
            <a:avLst/>
          </a:prstGeom>
        </p:spPr>
      </p:pic>
      <p:sp>
        <p:nvSpPr>
          <p:cNvPr id="1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43209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 génér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3934" y="140662"/>
            <a:ext cx="8364781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texte 5"/>
          <p:cNvSpPr>
            <a:spLocks noGrp="1"/>
          </p:cNvSpPr>
          <p:nvPr>
            <p:ph type="body" sz="quarter" idx="14"/>
          </p:nvPr>
        </p:nvSpPr>
        <p:spPr>
          <a:xfrm>
            <a:off x="395538" y="1176339"/>
            <a:ext cx="8352928" cy="3350419"/>
          </a:xfrm>
        </p:spPr>
        <p:txBody>
          <a:bodyPr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</a:defRPr>
            </a:lvl3pPr>
            <a:lvl4pPr marL="873897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 sz="1050"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2485432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  5"/>
          <p:cNvSpPr>
            <a:spLocks noGrp="1"/>
          </p:cNvSpPr>
          <p:nvPr>
            <p:ph type="pic" sz="quarter" idx="12"/>
          </p:nvPr>
        </p:nvSpPr>
        <p:spPr>
          <a:xfrm>
            <a:off x="4637943" y="1172982"/>
            <a:ext cx="4506058" cy="3338081"/>
          </a:xfrm>
          <a:ln w="19050">
            <a:noFill/>
          </a:ln>
        </p:spPr>
        <p:txBody>
          <a:bodyPr tIns="468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8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383932" y="1172982"/>
            <a:ext cx="4116632" cy="3338081"/>
          </a:xfrm>
          <a:ln w="19050">
            <a:noFill/>
          </a:ln>
        </p:spPr>
        <p:txBody>
          <a:bodyPr tIns="46800"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Browallia New" panose="020B0604020202020204" pitchFamily="34" charset="-34"/>
              <a:buChar char="›"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Calibri" panose="020F0502020204030204" pitchFamily="34" charset="0"/>
              <a:buChar char="−"/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cxnSp>
        <p:nvCxnSpPr>
          <p:cNvPr id="9" name="Connecteur droit 8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re 1"/>
          <p:cNvSpPr>
            <a:spLocks noGrp="1"/>
          </p:cNvSpPr>
          <p:nvPr>
            <p:ph type="title"/>
          </p:nvPr>
        </p:nvSpPr>
        <p:spPr>
          <a:xfrm>
            <a:off x="383934" y="140662"/>
            <a:ext cx="8364781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5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4637945" y="4511281"/>
            <a:ext cx="4110521" cy="275201"/>
          </a:xfrm>
        </p:spPr>
        <p:txBody>
          <a:bodyPr/>
          <a:lstStyle>
            <a:lvl1pPr marL="0" indent="0" algn="r">
              <a:buNone/>
              <a:defRPr sz="900" i="1"/>
            </a:lvl1pPr>
            <a:lvl2pPr>
              <a:defRPr sz="1050" i="1"/>
            </a:lvl2pPr>
            <a:lvl3pPr>
              <a:defRPr sz="900" i="1"/>
            </a:lvl3pPr>
            <a:lvl4pPr>
              <a:buFont typeface="Arial" panose="020B0604020202020204" pitchFamily="34" charset="0"/>
              <a:buChar char="•"/>
              <a:defRPr sz="900" i="1"/>
            </a:lvl4pPr>
            <a:lvl5pPr marL="1585874" indent="-214308">
              <a:buFont typeface="Arial" panose="020B0604020202020204" pitchFamily="34" charset="0"/>
              <a:buChar char="•"/>
              <a:defRPr sz="135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662697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 -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texte 14"/>
          <p:cNvSpPr>
            <a:spLocks noGrp="1"/>
          </p:cNvSpPr>
          <p:nvPr>
            <p:ph type="body" sz="quarter" idx="13" hasCustomPrompt="1"/>
          </p:nvPr>
        </p:nvSpPr>
        <p:spPr>
          <a:xfrm>
            <a:off x="383932" y="1172982"/>
            <a:ext cx="4116632" cy="3338081"/>
          </a:xfrm>
        </p:spPr>
        <p:txBody>
          <a:bodyPr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sz="13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 marL="333367" indent="-13096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Browallia New" panose="020B0604020202020204" pitchFamily="34" charset="-34"/>
              <a:buChar char="›"/>
              <a:defRPr sz="120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 marL="604823" indent="-171446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 marL="735788" indent="-180971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Calibri" panose="020F0502020204030204" pitchFamily="34" charset="0"/>
              <a:buChar char="−"/>
              <a:defRPr sz="105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  <a:lvl5pPr marL="938189" indent="-171446">
              <a:buFont typeface="Calibri" panose="020F0502020204030204" pitchFamily="34" charset="0"/>
              <a:buChar char="−"/>
              <a:defRPr sz="1500">
                <a:latin typeface="Browallia New" panose="020B0604020202020204" pitchFamily="34" charset="-34"/>
                <a:cs typeface="Browallia New" panose="020B0604020202020204" pitchFamily="34" charset="-34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5"/>
          </p:nvPr>
        </p:nvSpPr>
        <p:spPr>
          <a:xfrm>
            <a:off x="4637945" y="4511281"/>
            <a:ext cx="4110521" cy="275201"/>
          </a:xfrm>
        </p:spPr>
        <p:txBody>
          <a:bodyPr/>
          <a:lstStyle>
            <a:lvl1pPr marL="0" indent="0" algn="r">
              <a:buNone/>
              <a:defRPr sz="900" i="1"/>
            </a:lvl1pPr>
            <a:lvl2pPr>
              <a:defRPr sz="1050" i="1"/>
            </a:lvl2pPr>
            <a:lvl3pPr>
              <a:defRPr sz="900" i="1"/>
            </a:lvl3pPr>
            <a:lvl4pPr>
              <a:buFont typeface="Arial" panose="020B0604020202020204" pitchFamily="34" charset="0"/>
              <a:buChar char="•"/>
              <a:defRPr sz="900" i="1"/>
            </a:lvl4pPr>
            <a:lvl5pPr marL="1585874" indent="-214308">
              <a:buFont typeface="Arial" panose="020B0604020202020204" pitchFamily="34" charset="0"/>
              <a:buChar char="•"/>
              <a:defRPr sz="1350" i="1"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6"/>
          </p:nvPr>
        </p:nvSpPr>
        <p:spPr>
          <a:xfrm>
            <a:off x="4637485" y="1172766"/>
            <a:ext cx="4110980" cy="3338513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 smtClean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lang="fr-FR" dirty="0">
                <a:solidFill>
                  <a:schemeClr val="tx1"/>
                </a:solidFill>
                <a:latin typeface="+mn-lt"/>
                <a:cs typeface="Browallia New" panose="020B0604020202020204" pitchFamily="34" charset="-34"/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9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2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416940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15" name="Rectangle 14"/>
          <p:cNvSpPr/>
          <p:nvPr/>
        </p:nvSpPr>
        <p:spPr>
          <a:xfrm>
            <a:off x="1173622" y="1272429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effectLst/>
            </a:endParaRPr>
          </a:p>
        </p:txBody>
      </p:sp>
      <p:sp>
        <p:nvSpPr>
          <p:cNvPr id="17" name="Espace réservé du texte 11"/>
          <p:cNvSpPr>
            <a:spLocks noGrp="1"/>
          </p:cNvSpPr>
          <p:nvPr userDrawn="1">
            <p:ph type="body" sz="quarter" idx="17"/>
          </p:nvPr>
        </p:nvSpPr>
        <p:spPr>
          <a:xfrm>
            <a:off x="899408" y="3445468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18" name="Espace réservé pour une image  7"/>
          <p:cNvSpPr>
            <a:spLocks noGrp="1"/>
          </p:cNvSpPr>
          <p:nvPr userDrawn="1">
            <p:ph type="pic" sz="quarter" idx="12"/>
          </p:nvPr>
        </p:nvSpPr>
        <p:spPr>
          <a:xfrm>
            <a:off x="1336739" y="1167594"/>
            <a:ext cx="1485000" cy="1567629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Rectangle 19"/>
          <p:cNvSpPr/>
          <p:nvPr/>
        </p:nvSpPr>
        <p:spPr>
          <a:xfrm>
            <a:off x="3608115" y="1272429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effectLst/>
            </a:endParaRPr>
          </a:p>
        </p:txBody>
      </p:sp>
      <p:sp>
        <p:nvSpPr>
          <p:cNvPr id="22" name="Espace réservé pour une image  7"/>
          <p:cNvSpPr>
            <a:spLocks noGrp="1"/>
          </p:cNvSpPr>
          <p:nvPr userDrawn="1">
            <p:ph type="pic" sz="quarter" idx="18"/>
          </p:nvPr>
        </p:nvSpPr>
        <p:spPr>
          <a:xfrm>
            <a:off x="3773455" y="1165235"/>
            <a:ext cx="1485000" cy="1560161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4168" y="1276665"/>
            <a:ext cx="1539404" cy="1588091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effectLst/>
            </a:endParaRPr>
          </a:p>
        </p:txBody>
      </p:sp>
      <p:sp>
        <p:nvSpPr>
          <p:cNvPr id="26" name="Espace réservé pour une image  7"/>
          <p:cNvSpPr>
            <a:spLocks noGrp="1"/>
          </p:cNvSpPr>
          <p:nvPr userDrawn="1">
            <p:ph type="pic" sz="quarter" idx="19"/>
          </p:nvPr>
        </p:nvSpPr>
        <p:spPr>
          <a:xfrm>
            <a:off x="6246185" y="1165233"/>
            <a:ext cx="1485000" cy="1560162"/>
          </a:xfrm>
        </p:spPr>
        <p:txBody>
          <a:bodyPr/>
          <a:lstStyle>
            <a:lvl1pPr marL="0" indent="0">
              <a:buNone/>
              <a:defRPr sz="1050">
                <a:solidFill>
                  <a:schemeClr val="tx1"/>
                </a:solidFill>
                <a:latin typeface="Bodoni 72 Bold"/>
              </a:defRPr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19" name="Connecteur droit 18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333899" y="3450658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5809952" y="3450658"/>
            <a:ext cx="2087835" cy="1034309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898924" y="3198019"/>
            <a:ext cx="2088356" cy="247650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23"/>
          </p:nvPr>
        </p:nvSpPr>
        <p:spPr>
          <a:xfrm>
            <a:off x="3333751" y="3186115"/>
            <a:ext cx="2088356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24"/>
          </p:nvPr>
        </p:nvSpPr>
        <p:spPr>
          <a:xfrm>
            <a:off x="5810250" y="3186115"/>
            <a:ext cx="2087166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049885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lipse 13"/>
          <p:cNvSpPr/>
          <p:nvPr userDrawn="1"/>
        </p:nvSpPr>
        <p:spPr>
          <a:xfrm>
            <a:off x="11684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6" name="Espace réservé pour une image  9"/>
          <p:cNvSpPr>
            <a:spLocks noGrp="1"/>
          </p:cNvSpPr>
          <p:nvPr>
            <p:ph type="pic" sz="quarter" idx="17" hasCustomPrompt="1"/>
          </p:nvPr>
        </p:nvSpPr>
        <p:spPr>
          <a:xfrm>
            <a:off x="12750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</a:t>
            </a:r>
            <a:br>
              <a:rPr lang="en-US" dirty="0"/>
            </a:br>
            <a:r>
              <a:rPr lang="en-US" dirty="0"/>
              <a:t>a picture</a:t>
            </a:r>
          </a:p>
        </p:txBody>
      </p:sp>
      <p:sp>
        <p:nvSpPr>
          <p:cNvPr id="15" name="Ellipse 14"/>
          <p:cNvSpPr/>
          <p:nvPr userDrawn="1"/>
        </p:nvSpPr>
        <p:spPr>
          <a:xfrm>
            <a:off x="38687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6" name="Espace réservé pour une image  9"/>
          <p:cNvSpPr>
            <a:spLocks noGrp="1"/>
          </p:cNvSpPr>
          <p:nvPr>
            <p:ph type="pic" sz="quarter" idx="23" hasCustomPrompt="1"/>
          </p:nvPr>
        </p:nvSpPr>
        <p:spPr>
          <a:xfrm>
            <a:off x="39753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sp>
        <p:nvSpPr>
          <p:cNvPr id="17" name="Ellipse 16"/>
          <p:cNvSpPr/>
          <p:nvPr userDrawn="1"/>
        </p:nvSpPr>
        <p:spPr>
          <a:xfrm>
            <a:off x="6569062" y="1328425"/>
            <a:ext cx="1406700" cy="140534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8" name="Espace réservé pour une image  9"/>
          <p:cNvSpPr>
            <a:spLocks noGrp="1"/>
          </p:cNvSpPr>
          <p:nvPr>
            <p:ph type="pic" sz="quarter" idx="24" hasCustomPrompt="1"/>
          </p:nvPr>
        </p:nvSpPr>
        <p:spPr>
          <a:xfrm>
            <a:off x="6675690" y="1283862"/>
            <a:ext cx="1406700" cy="1405343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31" i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a picture</a:t>
            </a:r>
          </a:p>
        </p:txBody>
      </p:sp>
      <p:cxnSp>
        <p:nvCxnSpPr>
          <p:cNvPr id="21" name="Connecteur droit 20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ce réservé du texte 11"/>
          <p:cNvSpPr>
            <a:spLocks noGrp="1"/>
          </p:cNvSpPr>
          <p:nvPr>
            <p:ph type="body" sz="quarter" idx="25"/>
          </p:nvPr>
        </p:nvSpPr>
        <p:spPr>
          <a:xfrm>
            <a:off x="737266" y="3192805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453293" y="3197995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6174794" y="3197995"/>
            <a:ext cx="2296619" cy="1212784"/>
          </a:xfrm>
          <a:noFill/>
        </p:spPr>
        <p:txBody>
          <a:bodyPr/>
          <a:lstStyle>
            <a:lvl1pPr marL="0" indent="0" algn="ctr">
              <a:buNone/>
              <a:defRPr lang="fr-FR" sz="1050" kern="1200" dirty="0" smtClean="0">
                <a:solidFill>
                  <a:schemeClr val="tx1"/>
                </a:solidFill>
                <a:latin typeface="+mn-lt"/>
                <a:ea typeface="+mn-ea"/>
                <a:cs typeface="Browallia New" panose="020B0604020202020204" pitchFamily="34" charset="-34"/>
              </a:defRPr>
            </a:lvl1pPr>
            <a:lvl2pPr>
              <a:defRPr sz="135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marL="0" lvl="0" indent="0" algn="ctr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fr-FR"/>
              <a:t>Modifier les styles du texte du masque</a:t>
            </a:r>
          </a:p>
        </p:txBody>
      </p:sp>
      <p:sp>
        <p:nvSpPr>
          <p:cNvPr id="25" name="Espace réservé du contenu 5"/>
          <p:cNvSpPr>
            <a:spLocks noGrp="1"/>
          </p:cNvSpPr>
          <p:nvPr>
            <p:ph sz="quarter" idx="22"/>
          </p:nvPr>
        </p:nvSpPr>
        <p:spPr>
          <a:xfrm>
            <a:off x="736756" y="2945356"/>
            <a:ext cx="2297192" cy="247650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Espace réservé du contenu 7"/>
          <p:cNvSpPr>
            <a:spLocks noGrp="1"/>
          </p:cNvSpPr>
          <p:nvPr>
            <p:ph sz="quarter" idx="26"/>
          </p:nvPr>
        </p:nvSpPr>
        <p:spPr>
          <a:xfrm>
            <a:off x="3453118" y="2933452"/>
            <a:ext cx="2297192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contenu 9"/>
          <p:cNvSpPr>
            <a:spLocks noGrp="1"/>
          </p:cNvSpPr>
          <p:nvPr>
            <p:ph sz="quarter" idx="27"/>
          </p:nvPr>
        </p:nvSpPr>
        <p:spPr>
          <a:xfrm>
            <a:off x="6175126" y="2933452"/>
            <a:ext cx="2295883" cy="259556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9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9404313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om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395537" y="980855"/>
            <a:ext cx="514101" cy="1155791"/>
          </a:xfrm>
          <a:solidFill>
            <a:schemeClr val="tx1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1" indent="0">
              <a:buNone/>
              <a:defRPr>
                <a:latin typeface="+mj-lt"/>
              </a:defRPr>
            </a:lvl2pPr>
            <a:lvl3pPr marL="433377" indent="0">
              <a:buNone/>
              <a:defRPr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quarter" idx="11"/>
          </p:nvPr>
        </p:nvSpPr>
        <p:spPr>
          <a:xfrm>
            <a:off x="395537" y="2225107"/>
            <a:ext cx="514101" cy="1155791"/>
          </a:xfrm>
          <a:solidFill>
            <a:schemeClr val="accent2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1" indent="0">
              <a:buNone/>
              <a:defRPr>
                <a:latin typeface="+mj-lt"/>
              </a:defRPr>
            </a:lvl2pPr>
            <a:lvl3pPr marL="433377" indent="0">
              <a:buNone/>
              <a:defRPr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texte 3"/>
          <p:cNvSpPr>
            <a:spLocks noGrp="1"/>
          </p:cNvSpPr>
          <p:nvPr>
            <p:ph type="body" sz="quarter" idx="12"/>
          </p:nvPr>
        </p:nvSpPr>
        <p:spPr>
          <a:xfrm>
            <a:off x="395537" y="3461394"/>
            <a:ext cx="514101" cy="1155791"/>
          </a:xfrm>
          <a:solidFill>
            <a:schemeClr val="accent3"/>
          </a:solidFill>
        </p:spPr>
        <p:txBody>
          <a:bodyPr vert="vert270" anchor="ctr" anchorCtr="0"/>
          <a:lstStyle>
            <a:lvl1pPr marL="0" indent="0" algn="ctr">
              <a:buNone/>
              <a:defRPr sz="1500">
                <a:solidFill>
                  <a:schemeClr val="bg1"/>
                </a:solidFill>
                <a:latin typeface="+mj-lt"/>
              </a:defRPr>
            </a:lvl1pPr>
            <a:lvl2pPr marL="202401" indent="0">
              <a:buNone/>
              <a:defRPr>
                <a:latin typeface="+mj-lt"/>
              </a:defRPr>
            </a:lvl2pPr>
            <a:lvl3pPr marL="433377" indent="0">
              <a:buNone/>
              <a:defRPr>
                <a:latin typeface="+mj-lt"/>
              </a:defRPr>
            </a:lvl3pPr>
            <a:lvl4pPr marL="554817" indent="0">
              <a:buFont typeface="Arial" panose="020B0604020202020204" pitchFamily="34" charset="0"/>
              <a:buNone/>
              <a:defRPr>
                <a:latin typeface="+mj-lt"/>
              </a:defRPr>
            </a:lvl4pPr>
            <a:lvl5pPr marL="1371566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7" name="Connecteur droit 6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ce réservé du texte 12"/>
          <p:cNvSpPr>
            <a:spLocks noGrp="1"/>
          </p:cNvSpPr>
          <p:nvPr>
            <p:ph type="body" sz="quarter" idx="13"/>
          </p:nvPr>
        </p:nvSpPr>
        <p:spPr>
          <a:xfrm>
            <a:off x="1156291" y="980854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4" name="Espace réservé du texte 12"/>
          <p:cNvSpPr>
            <a:spLocks noGrp="1"/>
          </p:cNvSpPr>
          <p:nvPr>
            <p:ph type="body" sz="quarter" idx="14"/>
          </p:nvPr>
        </p:nvSpPr>
        <p:spPr>
          <a:xfrm>
            <a:off x="1156044" y="2225106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5" name="Espace réservé du texte 12"/>
          <p:cNvSpPr>
            <a:spLocks noGrp="1"/>
          </p:cNvSpPr>
          <p:nvPr>
            <p:ph type="body" sz="quarter" idx="15"/>
          </p:nvPr>
        </p:nvSpPr>
        <p:spPr>
          <a:xfrm>
            <a:off x="1156044" y="3461392"/>
            <a:ext cx="7592422" cy="115579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406014" y="2136645"/>
            <a:ext cx="8343000" cy="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24000" rtlCol="0" anchor="ctr"/>
          <a:lstStyle/>
          <a:p>
            <a:endParaRPr lang="fr-FR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Triangle isocèle 21"/>
          <p:cNvSpPr/>
          <p:nvPr userDrawn="1"/>
        </p:nvSpPr>
        <p:spPr>
          <a:xfrm flipV="1">
            <a:off x="1370853" y="2124514"/>
            <a:ext cx="467758" cy="585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18" name="Rectangle 17"/>
          <p:cNvSpPr/>
          <p:nvPr userDrawn="1"/>
        </p:nvSpPr>
        <p:spPr>
          <a:xfrm>
            <a:off x="404507" y="3381687"/>
            <a:ext cx="8343000" cy="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rIns="324000" rtlCol="0" anchor="ctr"/>
          <a:lstStyle/>
          <a:p>
            <a:endParaRPr lang="fr-FR" sz="135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Triangle isocèle 21"/>
          <p:cNvSpPr/>
          <p:nvPr userDrawn="1"/>
        </p:nvSpPr>
        <p:spPr>
          <a:xfrm flipV="1">
            <a:off x="1369346" y="3369556"/>
            <a:ext cx="467758" cy="58593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sp>
        <p:nvSpPr>
          <p:cNvPr id="22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20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994282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exte-Enjeux-Objec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388346" y="141480"/>
            <a:ext cx="8360369" cy="64889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4" name="Connecteur droit 3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6"/>
          <p:cNvSpPr>
            <a:spLocks noGrp="1"/>
          </p:cNvSpPr>
          <p:nvPr>
            <p:ph type="body" sz="quarter" idx="18"/>
          </p:nvPr>
        </p:nvSpPr>
        <p:spPr>
          <a:xfrm>
            <a:off x="395537" y="1240725"/>
            <a:ext cx="4320000" cy="2321719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 marL="214308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 marL="769125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7" name="Espace réservé du texte 4"/>
          <p:cNvSpPr>
            <a:spLocks noGrp="1"/>
          </p:cNvSpPr>
          <p:nvPr>
            <p:ph type="body" sz="quarter" idx="16"/>
          </p:nvPr>
        </p:nvSpPr>
        <p:spPr>
          <a:xfrm>
            <a:off x="905034" y="1122148"/>
            <a:ext cx="3535514" cy="2381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8" name="Espace réservé du texte 17"/>
          <p:cNvSpPr>
            <a:spLocks noGrp="1"/>
          </p:cNvSpPr>
          <p:nvPr>
            <p:ph type="body" sz="quarter" idx="21"/>
          </p:nvPr>
        </p:nvSpPr>
        <p:spPr>
          <a:xfrm>
            <a:off x="4968464" y="1240724"/>
            <a:ext cx="3780000" cy="2321719"/>
          </a:xfrm>
          <a:ln w="19050">
            <a:solidFill>
              <a:schemeClr val="accent5"/>
            </a:solidFill>
          </a:ln>
        </p:spPr>
        <p:txBody>
          <a:bodyPr lIns="108000" tIns="252000" rIns="10800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>
                <a:solidFill>
                  <a:schemeClr val="tx1"/>
                </a:solidFill>
              </a:defRPr>
            </a:lvl3pPr>
            <a:lvl4pPr marL="769125" indent="-214308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Font typeface="Segoe UI" panose="020B0502040204020203" pitchFamily="34" charset="0"/>
              <a:buChar char="‑"/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9" name="Espace réservé du texte 4"/>
          <p:cNvSpPr>
            <a:spLocks noGrp="1"/>
          </p:cNvSpPr>
          <p:nvPr>
            <p:ph type="body" sz="quarter" idx="17"/>
          </p:nvPr>
        </p:nvSpPr>
        <p:spPr>
          <a:xfrm>
            <a:off x="5222352" y="1134015"/>
            <a:ext cx="3535514" cy="238125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3" name="Espace réservé du texte 19"/>
          <p:cNvSpPr>
            <a:spLocks noGrp="1"/>
          </p:cNvSpPr>
          <p:nvPr>
            <p:ph type="body" sz="quarter" idx="22"/>
          </p:nvPr>
        </p:nvSpPr>
        <p:spPr>
          <a:xfrm>
            <a:off x="548641" y="3729039"/>
            <a:ext cx="8199824" cy="827485"/>
          </a:xfrm>
          <a:prstGeom prst="roundRect">
            <a:avLst>
              <a:gd name="adj" fmla="val 23335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 marL="2151407" indent="-214308">
              <a:buFont typeface="Wingdings" panose="05000000000000000000" pitchFamily="2" charset="2"/>
              <a:buChar char="ü"/>
              <a:defRPr/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pic>
        <p:nvPicPr>
          <p:cNvPr id="14" name="Image 1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06" y="3754684"/>
            <a:ext cx="714163" cy="770531"/>
          </a:xfrm>
          <a:prstGeom prst="rect">
            <a:avLst/>
          </a:prstGeom>
        </p:spPr>
      </p:pic>
      <p:sp>
        <p:nvSpPr>
          <p:cNvPr id="15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37256047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ouvernance Mi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0"/>
          </p:nvPr>
        </p:nvSpPr>
        <p:spPr>
          <a:xfrm>
            <a:off x="1807165" y="1006771"/>
            <a:ext cx="3053078" cy="403622"/>
          </a:xfrm>
        </p:spPr>
        <p:txBody>
          <a:bodyPr/>
          <a:lstStyle>
            <a:lvl1pPr marL="0" indent="0" algn="ctr">
              <a:buNone/>
              <a:defRPr sz="13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Espace réservé du texte 22"/>
          <p:cNvSpPr>
            <a:spLocks noGrp="1"/>
          </p:cNvSpPr>
          <p:nvPr>
            <p:ph type="body" sz="quarter" idx="11"/>
          </p:nvPr>
        </p:nvSpPr>
        <p:spPr>
          <a:xfrm>
            <a:off x="5399296" y="1006771"/>
            <a:ext cx="3358039" cy="403622"/>
          </a:xfrm>
        </p:spPr>
        <p:txBody>
          <a:bodyPr/>
          <a:lstStyle>
            <a:lvl1pPr marL="0" indent="0" algn="ctr">
              <a:buNone/>
              <a:defRPr sz="135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2"/>
          </p:nvPr>
        </p:nvSpPr>
        <p:spPr>
          <a:xfrm>
            <a:off x="1806989" y="1618892"/>
            <a:ext cx="3052763" cy="407194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7" name="Espace réservé du texte 26"/>
          <p:cNvSpPr>
            <a:spLocks noGrp="1"/>
          </p:cNvSpPr>
          <p:nvPr>
            <p:ph type="body" sz="quarter" idx="13"/>
          </p:nvPr>
        </p:nvSpPr>
        <p:spPr>
          <a:xfrm>
            <a:off x="5399296" y="1599841"/>
            <a:ext cx="3358039" cy="470297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9" name="Espace réservé du texte 28"/>
          <p:cNvSpPr>
            <a:spLocks noGrp="1"/>
          </p:cNvSpPr>
          <p:nvPr>
            <p:ph type="body" sz="quarter" idx="14"/>
          </p:nvPr>
        </p:nvSpPr>
        <p:spPr>
          <a:xfrm>
            <a:off x="1806989" y="2379514"/>
            <a:ext cx="3052763" cy="65353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5"/>
          </p:nvPr>
        </p:nvSpPr>
        <p:spPr>
          <a:xfrm>
            <a:off x="5399533" y="2379514"/>
            <a:ext cx="3357563" cy="65353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6" hasCustomPrompt="1"/>
          </p:nvPr>
        </p:nvSpPr>
        <p:spPr>
          <a:xfrm>
            <a:off x="1806989" y="3365208"/>
            <a:ext cx="3052763" cy="1005193"/>
          </a:xfrm>
        </p:spPr>
        <p:txBody>
          <a:bodyPr anchor="ctr"/>
          <a:lstStyle>
            <a:lvl1pPr>
              <a:spcAft>
                <a:spcPts val="225"/>
              </a:spcAft>
              <a:defRPr sz="12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sp>
        <p:nvSpPr>
          <p:cNvPr id="35" name="Espace réservé du texte 34"/>
          <p:cNvSpPr>
            <a:spLocks noGrp="1"/>
          </p:cNvSpPr>
          <p:nvPr>
            <p:ph type="body" sz="quarter" idx="17" hasCustomPrompt="1"/>
          </p:nvPr>
        </p:nvSpPr>
        <p:spPr>
          <a:xfrm>
            <a:off x="5399533" y="3365208"/>
            <a:ext cx="3357563" cy="1005193"/>
          </a:xfrm>
        </p:spPr>
        <p:txBody>
          <a:bodyPr anchor="ctr"/>
          <a:lstStyle>
            <a:lvl1pPr>
              <a:spcAft>
                <a:spcPts val="225"/>
              </a:spcAft>
              <a:defRPr sz="1200"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/>
            </a:lvl2pPr>
          </a:lstStyle>
          <a:p>
            <a:pPr lvl="0"/>
            <a:r>
              <a:rPr lang="fr-FR" dirty="0"/>
              <a:t>Deuxième niveau</a:t>
            </a:r>
          </a:p>
        </p:txBody>
      </p:sp>
      <p:cxnSp>
        <p:nvCxnSpPr>
          <p:cNvPr id="36" name="Connecteur droit 35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pic>
        <p:nvPicPr>
          <p:cNvPr id="19" name="Image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2465430"/>
            <a:ext cx="540000" cy="516158"/>
          </a:xfrm>
          <a:prstGeom prst="rect">
            <a:avLst/>
          </a:prstGeom>
        </p:spPr>
      </p:pic>
      <p:pic>
        <p:nvPicPr>
          <p:cNvPr id="28" name="Image 2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1584118"/>
            <a:ext cx="540000" cy="501743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14" y="3622084"/>
            <a:ext cx="540000" cy="471554"/>
          </a:xfrm>
          <a:prstGeom prst="rect">
            <a:avLst/>
          </a:prstGeom>
        </p:spPr>
      </p:pic>
      <p:sp>
        <p:nvSpPr>
          <p:cNvPr id="17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657700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90465" y="101606"/>
            <a:ext cx="7053530" cy="372870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5" name="Rectangle 4"/>
          <p:cNvSpPr/>
          <p:nvPr userDrawn="1"/>
        </p:nvSpPr>
        <p:spPr>
          <a:xfrm>
            <a:off x="383932" y="1057868"/>
            <a:ext cx="251014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COMPETENCES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094706" y="2224503"/>
            <a:ext cx="564378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EXPERIENCES - Extraits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099818" y="1057868"/>
            <a:ext cx="5643785" cy="216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fr-FR" sz="900" b="1" dirty="0">
                <a:solidFill>
                  <a:schemeClr val="bg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 BREF</a:t>
            </a:r>
            <a:endParaRPr lang="fr-FR" sz="750" b="1" dirty="0">
              <a:solidFill>
                <a:schemeClr val="bg1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0"/>
          </p:nvPr>
        </p:nvSpPr>
        <p:spPr>
          <a:xfrm>
            <a:off x="1690578" y="474476"/>
            <a:ext cx="7053025" cy="357254"/>
          </a:xfrm>
        </p:spPr>
        <p:txBody>
          <a:bodyPr/>
          <a:lstStyle>
            <a:lvl1pPr marL="214308" indent="-214308"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pour une image  14"/>
          <p:cNvSpPr>
            <a:spLocks noGrp="1"/>
          </p:cNvSpPr>
          <p:nvPr>
            <p:ph type="pic" sz="quarter" idx="11"/>
          </p:nvPr>
        </p:nvSpPr>
        <p:spPr>
          <a:xfrm>
            <a:off x="633366" y="107104"/>
            <a:ext cx="745454" cy="72969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17" name="Espace réservé du texte 16"/>
          <p:cNvSpPr>
            <a:spLocks noGrp="1"/>
          </p:cNvSpPr>
          <p:nvPr>
            <p:ph type="body" sz="quarter" idx="12"/>
          </p:nvPr>
        </p:nvSpPr>
        <p:spPr>
          <a:xfrm>
            <a:off x="383382" y="1339705"/>
            <a:ext cx="2511029" cy="3269207"/>
          </a:xfrm>
          <a:solidFill>
            <a:schemeClr val="bg2"/>
          </a:solidFill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  <a:lvl2pPr>
              <a:defRPr sz="900"/>
            </a:lvl2pPr>
            <a:lvl3pPr>
              <a:defRPr sz="900"/>
            </a:lvl3pPr>
            <a:lvl4pPr>
              <a:defRPr sz="900"/>
            </a:lvl4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9" name="Espace réservé du texte 18"/>
          <p:cNvSpPr>
            <a:spLocks noGrp="1"/>
          </p:cNvSpPr>
          <p:nvPr>
            <p:ph type="body" sz="quarter" idx="13"/>
          </p:nvPr>
        </p:nvSpPr>
        <p:spPr>
          <a:xfrm>
            <a:off x="3100389" y="1339704"/>
            <a:ext cx="5636419" cy="765187"/>
          </a:xfrm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4"/>
          </p:nvPr>
        </p:nvSpPr>
        <p:spPr>
          <a:xfrm>
            <a:off x="3094704" y="2503967"/>
            <a:ext cx="5649246" cy="2104943"/>
          </a:xfrm>
          <a:solidFill>
            <a:schemeClr val="bg2"/>
          </a:solidFill>
        </p:spPr>
        <p:txBody>
          <a:bodyPr/>
          <a:lstStyle>
            <a:lvl1pPr marL="214308" indent="-214308">
              <a:buFont typeface="Wingdings" panose="05000000000000000000" pitchFamily="2" charset="2"/>
              <a:buChar char="§"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22" name="Connecteur droit 21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8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727084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 atouts Beijaf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1" name="Espace réservé du texte 30"/>
          <p:cNvSpPr>
            <a:spLocks noGrp="1"/>
          </p:cNvSpPr>
          <p:nvPr>
            <p:ph type="body" sz="quarter" idx="10"/>
          </p:nvPr>
        </p:nvSpPr>
        <p:spPr>
          <a:xfrm>
            <a:off x="1980310" y="1095606"/>
            <a:ext cx="6768404" cy="513159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3" name="Espace réservé du texte 32"/>
          <p:cNvSpPr>
            <a:spLocks noGrp="1"/>
          </p:cNvSpPr>
          <p:nvPr>
            <p:ph type="body" sz="quarter" idx="11"/>
          </p:nvPr>
        </p:nvSpPr>
        <p:spPr>
          <a:xfrm>
            <a:off x="1980011" y="1826508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4" name="Espace réservé du texte 32"/>
          <p:cNvSpPr>
            <a:spLocks noGrp="1"/>
          </p:cNvSpPr>
          <p:nvPr>
            <p:ph type="body" sz="quarter" idx="12"/>
          </p:nvPr>
        </p:nvSpPr>
        <p:spPr>
          <a:xfrm>
            <a:off x="1975680" y="2550732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5" name="Espace réservé du texte 32"/>
          <p:cNvSpPr>
            <a:spLocks noGrp="1"/>
          </p:cNvSpPr>
          <p:nvPr>
            <p:ph type="body" sz="quarter" idx="13"/>
          </p:nvPr>
        </p:nvSpPr>
        <p:spPr>
          <a:xfrm>
            <a:off x="2005054" y="3258852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6" name="Espace réservé du texte 32"/>
          <p:cNvSpPr>
            <a:spLocks noGrp="1"/>
          </p:cNvSpPr>
          <p:nvPr>
            <p:ph type="body" sz="quarter" idx="14"/>
          </p:nvPr>
        </p:nvSpPr>
        <p:spPr>
          <a:xfrm>
            <a:off x="2005054" y="4009248"/>
            <a:ext cx="6768703" cy="540544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02401" indent="0">
              <a:buNone/>
              <a:defRPr/>
            </a:lvl2pPr>
            <a:lvl3pPr marL="433377" indent="0">
              <a:buNone/>
              <a:defRPr/>
            </a:lvl3pPr>
            <a:lvl4pPr marL="554817" indent="0">
              <a:buFont typeface="Arial" panose="020B0604020202020204" pitchFamily="34" charset="0"/>
              <a:buNone/>
              <a:defRPr/>
            </a:lvl4pPr>
            <a:lvl5pPr marL="1371566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cxnSp>
        <p:nvCxnSpPr>
          <p:cNvPr id="43" name="Connecteur droit 42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cxnSp>
        <p:nvCxnSpPr>
          <p:cNvPr id="46" name="Connecteur droit 45"/>
          <p:cNvCxnSpPr/>
          <p:nvPr userDrawn="1"/>
        </p:nvCxnSpPr>
        <p:spPr>
          <a:xfrm>
            <a:off x="1030942" y="1352186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/>
          <p:cNvCxnSpPr/>
          <p:nvPr userDrawn="1"/>
        </p:nvCxnSpPr>
        <p:spPr>
          <a:xfrm>
            <a:off x="1024600" y="2096778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/>
          <p:cNvCxnSpPr/>
          <p:nvPr userDrawn="1"/>
        </p:nvCxnSpPr>
        <p:spPr>
          <a:xfrm>
            <a:off x="1023960" y="2821002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/>
          <p:cNvCxnSpPr/>
          <p:nvPr userDrawn="1"/>
        </p:nvCxnSpPr>
        <p:spPr>
          <a:xfrm>
            <a:off x="1009193" y="4279518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/>
          <p:cNvCxnSpPr/>
          <p:nvPr userDrawn="1"/>
        </p:nvCxnSpPr>
        <p:spPr>
          <a:xfrm>
            <a:off x="1024601" y="3544123"/>
            <a:ext cx="785455" cy="0"/>
          </a:xfrm>
          <a:prstGeom prst="line">
            <a:avLst/>
          </a:prstGeom>
          <a:ln w="127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2572427"/>
            <a:ext cx="432000" cy="475392"/>
          </a:xfrm>
          <a:prstGeom prst="rect">
            <a:avLst/>
          </a:prstGeom>
        </p:spPr>
      </p:pic>
      <p:pic>
        <p:nvPicPr>
          <p:cNvPr id="52" name="Image 5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1129644"/>
            <a:ext cx="432000" cy="476506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1885993"/>
            <a:ext cx="432000" cy="421571"/>
          </a:xfrm>
          <a:prstGeom prst="rect">
            <a:avLst/>
          </a:prstGeom>
        </p:spPr>
      </p:pic>
      <p:pic>
        <p:nvPicPr>
          <p:cNvPr id="54" name="Image 53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3423080"/>
            <a:ext cx="432000" cy="300531"/>
          </a:xfrm>
          <a:prstGeom prst="rect">
            <a:avLst/>
          </a:prstGeom>
        </p:spPr>
      </p:pic>
      <p:pic>
        <p:nvPicPr>
          <p:cNvPr id="55" name="Image 54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97" y="4071080"/>
            <a:ext cx="432000" cy="386496"/>
          </a:xfrm>
          <a:prstGeom prst="rect">
            <a:avLst/>
          </a:prstGeom>
        </p:spPr>
      </p:pic>
      <p:sp>
        <p:nvSpPr>
          <p:cNvPr id="2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1318125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émar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cxnSp>
        <p:nvCxnSpPr>
          <p:cNvPr id="3" name="Connecteur droit 2"/>
          <p:cNvCxnSpPr/>
          <p:nvPr userDrawn="1"/>
        </p:nvCxnSpPr>
        <p:spPr>
          <a:xfrm>
            <a:off x="395538" y="897564"/>
            <a:ext cx="8352928" cy="0"/>
          </a:xfrm>
          <a:prstGeom prst="line">
            <a:avLst/>
          </a:prstGeom>
          <a:ln w="6350" cmpd="sng">
            <a:solidFill>
              <a:srgbClr val="2734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graphique SmartArt 5"/>
          <p:cNvSpPr>
            <a:spLocks noGrp="1"/>
          </p:cNvSpPr>
          <p:nvPr>
            <p:ph type="dgm" sz="quarter" idx="10"/>
          </p:nvPr>
        </p:nvSpPr>
        <p:spPr>
          <a:xfrm>
            <a:off x="383933" y="1070184"/>
            <a:ext cx="8364531" cy="829865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fr-FR"/>
              <a:t>Cliquez sur l'icône pour ajouter un graphique SmartArt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1"/>
          </p:nvPr>
        </p:nvSpPr>
        <p:spPr>
          <a:xfrm>
            <a:off x="395288" y="2119122"/>
            <a:ext cx="8353425" cy="2243138"/>
          </a:xfrm>
          <a:ln w="19050">
            <a:solidFill>
              <a:schemeClr val="accent5"/>
            </a:solidFill>
          </a:ln>
        </p:spPr>
        <p:txBody>
          <a:bodyPr tIns="216000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900">
                <a:solidFill>
                  <a:schemeClr val="tx1"/>
                </a:solidFill>
              </a:defRPr>
            </a:lvl3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3"/>
          </p:nvPr>
        </p:nvSpPr>
        <p:spPr>
          <a:xfrm>
            <a:off x="2911524" y="1931003"/>
            <a:ext cx="3320954" cy="376238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Espace réservé du numéro de diapositive 2"/>
          <p:cNvSpPr>
            <a:spLocks noGrp="1"/>
          </p:cNvSpPr>
          <p:nvPr>
            <p:ph type="sldNum" sz="quarter" idx="4"/>
          </p:nvPr>
        </p:nvSpPr>
        <p:spPr>
          <a:xfrm>
            <a:off x="8436394" y="4805048"/>
            <a:ext cx="540000" cy="273844"/>
          </a:xfrm>
          <a:prstGeom prst="rect">
            <a:avLst/>
          </a:prstGeom>
        </p:spPr>
        <p:txBody>
          <a:bodyPr lIns="0" tIns="108000" rIns="0"/>
          <a:lstStyle>
            <a:lvl1pPr algn="r"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‹N°›</a:t>
            </a:fld>
            <a:endParaRPr lang="fr-FR" dirty="0"/>
          </a:p>
        </p:txBody>
      </p:sp>
      <p:sp>
        <p:nvSpPr>
          <p:cNvPr id="11" name="Espace réservé du pied de page 3"/>
          <p:cNvSpPr>
            <a:spLocks noGrp="1"/>
          </p:cNvSpPr>
          <p:nvPr>
            <p:ph type="ftr" sz="quarter" idx="3"/>
          </p:nvPr>
        </p:nvSpPr>
        <p:spPr>
          <a:xfrm>
            <a:off x="383931" y="4805048"/>
            <a:ext cx="4254012" cy="273844"/>
          </a:xfrm>
          <a:prstGeom prst="rect">
            <a:avLst/>
          </a:prstGeom>
        </p:spPr>
        <p:txBody>
          <a:bodyPr tIns="108000"/>
          <a:lstStyle>
            <a:lvl1pPr>
              <a:defRPr sz="900">
                <a:solidFill>
                  <a:schemeClr val="bg1"/>
                </a:solidFill>
                <a:latin typeface="+mn-lt"/>
                <a:cs typeface="Browallia New" panose="020B0604020202020204" pitchFamily="34" charset="-34"/>
              </a:defRPr>
            </a:lvl1pPr>
          </a:lstStyle>
          <a:p>
            <a:r>
              <a:rPr lang="fr-FR" dirty="0"/>
              <a:t>2022 | ©</a:t>
            </a:r>
            <a:r>
              <a:rPr lang="fr-FR" dirty="0" err="1"/>
              <a:t>HeadMind</a:t>
            </a:r>
            <a:r>
              <a:rPr lang="fr-FR" dirty="0"/>
              <a:t> </a:t>
            </a:r>
            <a:r>
              <a:rPr lang="fr-FR" dirty="0" err="1"/>
              <a:t>Partners</a:t>
            </a:r>
            <a:r>
              <a:rPr lang="fr-FR" dirty="0"/>
              <a:t> AI &amp; </a:t>
            </a:r>
            <a:r>
              <a:rPr lang="fr-FR" dirty="0" err="1"/>
              <a:t>Blockchain</a:t>
            </a:r>
            <a:r>
              <a:rPr lang="fr-FR" dirty="0"/>
              <a:t> | Confidentiel</a:t>
            </a:r>
          </a:p>
        </p:txBody>
      </p:sp>
    </p:spTree>
    <p:extLst>
      <p:ext uri="{BB962C8B-B14F-4D97-AF65-F5344CB8AC3E}">
        <p14:creationId xmlns:p14="http://schemas.microsoft.com/office/powerpoint/2010/main" val="23920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53279"/>
            <a:ext cx="9144000" cy="490221"/>
          </a:xfrm>
          <a:prstGeom prst="rect">
            <a:avLst/>
          </a:prstGeom>
        </p:spPr>
      </p:pic>
      <p:sp>
        <p:nvSpPr>
          <p:cNvPr id="2050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383934" y="141480"/>
            <a:ext cx="8364781" cy="648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000" rIns="9144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205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83934" y="1172985"/>
            <a:ext cx="8364781" cy="3338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14308" lvl="0" indent="-214308" algn="l" rtl="0" fontAlgn="base">
              <a:spcBef>
                <a:spcPct val="20000"/>
              </a:spcBef>
              <a:spcAft>
                <a:spcPct val="0"/>
              </a:spcAft>
            </a:pPr>
            <a:r>
              <a:rPr lang="fr-FR" dirty="0"/>
              <a:t>Cliquez pour modifier les styles du texte du masque</a:t>
            </a:r>
          </a:p>
          <a:p>
            <a:pPr marL="333367" lvl="1" indent="-130966" algn="l" rtl="0" fontAlgn="base">
              <a:spcBef>
                <a:spcPct val="20000"/>
              </a:spcBef>
              <a:spcAft>
                <a:spcPct val="0"/>
              </a:spcAft>
              <a:buFont typeface="Browallia New" panose="020B0604020202020204" pitchFamily="34" charset="-34"/>
              <a:buChar char="›"/>
            </a:pPr>
            <a:r>
              <a:rPr lang="fr-FR" dirty="0"/>
              <a:t>Deuxième niveau</a:t>
            </a:r>
          </a:p>
          <a:p>
            <a:pPr marL="604823" lvl="2" indent="-171446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</a:pPr>
            <a:r>
              <a:rPr lang="fr-FR" dirty="0"/>
              <a:t>Troisième niveau</a:t>
            </a:r>
          </a:p>
          <a:p>
            <a:pPr marL="735788" lvl="3" indent="-180971" algn="l" rtl="0" fontAlgn="base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−"/>
            </a:pPr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4284287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82" r:id="rId4"/>
    <p:sldLayoutId id="2147483683" r:id="rId5"/>
    <p:sldLayoutId id="2147483684" r:id="rId6"/>
    <p:sldLayoutId id="2147483686" r:id="rId7"/>
    <p:sldLayoutId id="2147483687" r:id="rId8"/>
    <p:sldLayoutId id="2147483688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8" r:id="rId15"/>
    <p:sldLayoutId id="2147483674" r:id="rId16"/>
    <p:sldLayoutId id="2147483675" r:id="rId17"/>
    <p:sldLayoutId id="2147483676" r:id="rId18"/>
    <p:sldLayoutId id="2147483677" r:id="rId19"/>
    <p:sldLayoutId id="2147483679" r:id="rId20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0" i="0" kern="1200" baseline="0">
          <a:solidFill>
            <a:srgbClr val="273457"/>
          </a:solidFill>
          <a:latin typeface="Franklin Gothic Book" panose="020B0503020102020204" pitchFamily="34" charset="0"/>
          <a:ea typeface="+mj-ea"/>
          <a:cs typeface="Franklin Gothic Book" panose="020B05030201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892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783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675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566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14308" indent="-21430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lang="fr-FR" sz="13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459569" indent="-25716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Browallia New" panose="020B0604020202020204" pitchFamily="34" charset="-34"/>
        <a:buChar char="›"/>
        <a:defRPr lang="fr-FR" sz="120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690546" indent="-25716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Calibri" panose="020F0502020204030204" pitchFamily="34" charset="0"/>
        <a:buChar char="»"/>
        <a:defRPr lang="fr-FR" sz="10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769125" indent="-214308" algn="l" rtl="0" eaLnBrk="1" fontAlgn="base" hangingPunct="1">
        <a:lnSpc>
          <a:spcPct val="112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lang="fr-FR" sz="1050" b="0" i="0" kern="1200" dirty="0" smtClean="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371566" indent="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defRPr sz="1500" kern="1200">
          <a:solidFill>
            <a:schemeClr val="tx1">
              <a:lumMod val="75000"/>
              <a:lumOff val="25000"/>
            </a:schemeClr>
          </a:solidFill>
          <a:latin typeface="Browallia New" panose="020B0604020202020204" pitchFamily="34" charset="-34"/>
          <a:ea typeface="+mn-ea"/>
          <a:cs typeface="Browallia New" panose="020B0604020202020204" pitchFamily="34" charset="-34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.google.com/architecture/blueprints/genai-mlops-blueprint" TargetMode="External"/><Relationship Id="rId2" Type="http://schemas.openxmlformats.org/officeDocument/2006/relationships/hyperlink" Target="https://proceedings.neurips.cc/paper_files/paper/2015/file/86df7dcfd896fcaf2674f757a2463eba-Paper.pdf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mlflow.org/docs/latest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jdiamant280@headmind.com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>
            <a:extLst>
              <a:ext uri="{FF2B5EF4-FFF2-40B4-BE49-F238E27FC236}">
                <a16:creationId xmlns:a16="http://schemas.microsoft.com/office/drawing/2014/main" id="{178FEDF8-030F-1837-9B37-1375CE390BAB}"/>
              </a:ext>
            </a:extLst>
          </p:cNvPr>
          <p:cNvSpPr/>
          <p:nvPr/>
        </p:nvSpPr>
        <p:spPr>
          <a:xfrm>
            <a:off x="548640" y="139674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#1</a:t>
            </a:r>
            <a:endParaRPr lang="en-US" sz="18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609BDB1-3EB3-56F3-8462-BDD135EF8C13}"/>
              </a:ext>
            </a:extLst>
          </p:cNvPr>
          <p:cNvSpPr/>
          <p:nvPr/>
        </p:nvSpPr>
        <p:spPr>
          <a:xfrm>
            <a:off x="548640" y="2019300"/>
            <a:ext cx="44577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to</a:t>
            </a:r>
            <a:endParaRPr lang="en-US" sz="4050" dirty="0"/>
          </a:p>
          <a:p>
            <a:pPr>
              <a:lnSpc>
                <a:spcPct val="110000"/>
              </a:lnSpc>
            </a:pPr>
            <a:r>
              <a:rPr lang="en-US" sz="4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MLOps &amp; MLflow</a:t>
            </a:r>
            <a:endParaRPr lang="en-US" sz="40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46A0AA0-DB33-FB7B-659B-DD937154614A}"/>
              </a:ext>
            </a:extLst>
          </p:cNvPr>
          <p:cNvSpPr/>
          <p:nvPr/>
        </p:nvSpPr>
        <p:spPr>
          <a:xfrm>
            <a:off x="548640" y="4223385"/>
            <a:ext cx="34290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In-depth: MLOps</a:t>
            </a:r>
          </a:p>
          <a:p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2025/2026 —  ISAE-SUPAERO</a:t>
            </a:r>
            <a:endParaRPr lang="en-US" sz="1800" dirty="0"/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50442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2</a:t>
            </a:fld>
            <a:endParaRPr lang="fr-FR" dirty="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MLOps?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2026 | ©HeadMind </a:t>
            </a:r>
            <a:r>
              <a:rPr lang="fr-FR" dirty="0" err="1"/>
              <a:t>Partners</a:t>
            </a:r>
            <a:r>
              <a:rPr lang="fr-FR" dirty="0"/>
              <a:t> AI &amp; Blockchain</a:t>
            </a:r>
          </a:p>
        </p:txBody>
      </p:sp>
    </p:spTree>
    <p:extLst>
      <p:ext uri="{BB962C8B-B14F-4D97-AF65-F5344CB8AC3E}">
        <p14:creationId xmlns:p14="http://schemas.microsoft.com/office/powerpoint/2010/main" val="497739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3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fr-FR" dirty="0"/>
              <a:t>2026 | ©HeadMind </a:t>
            </a:r>
            <a:r>
              <a:rPr lang="fr-FR" dirty="0" err="1"/>
              <a:t>Partners</a:t>
            </a:r>
            <a:r>
              <a:rPr lang="fr-FR" dirty="0"/>
              <a:t> AI &amp; Blockchain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15486165-C673-7B10-011A-33561BD3C8CF}"/>
              </a:ext>
            </a:extLst>
          </p:cNvPr>
          <p:cNvSpPr/>
          <p:nvPr/>
        </p:nvSpPr>
        <p:spPr>
          <a:xfrm>
            <a:off x="548640" y="20878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latin typeface="Franklin Gothic Book" panose="020B0503020102020204" pitchFamily="34" charset="0"/>
                <a:ea typeface="+mj-ea"/>
              </a:rPr>
              <a:t>Why is MLOps Getting More Important?</a:t>
            </a: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6D4A8F6D-6E9B-0F89-8826-8816C340D1CF}"/>
              </a:ext>
            </a:extLst>
          </p:cNvPr>
          <p:cNvSpPr/>
          <p:nvPr/>
        </p:nvSpPr>
        <p:spPr>
          <a:xfrm>
            <a:off x="548640" y="111252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AI revolution is real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 benefits of AI/ML are well proven, especially with the boom of Generative AI. ChatGPT (Nov 2022) showed the world what AI can do</a:t>
            </a:r>
            <a:r>
              <a:rPr lang="en-US" sz="1200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Companies want to move AI from Proof of Concept to production. Only ~54% of ML projects make it past the POC stage.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
</a:t>
            </a:r>
            <a:endParaRPr lang="en-US" sz="1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MLOps bridges the production gap</a:t>
            </a:r>
          </a:p>
          <a:p>
            <a:pPr marL="0" indent="0">
              <a:buNone/>
            </a:pPr>
            <a:endParaRPr lang="en-US" sz="14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75569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MLOps provides the practices and tools to reliably deploy, monitor, and maintain ML models in production.</a:t>
            </a:r>
            <a:endParaRPr lang="en-US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FA123B9-BDE2-8FE3-DB32-2870FD494D71}"/>
              </a:ext>
            </a:extLst>
          </p:cNvPr>
          <p:cNvSpPr/>
          <p:nvPr/>
        </p:nvSpPr>
        <p:spPr>
          <a:xfrm>
            <a:off x="5669280" y="1203960"/>
            <a:ext cx="3017520" cy="115687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AEDA04B0-695C-F5D5-99A9-A7D6685073B0}"/>
              </a:ext>
            </a:extLst>
          </p:cNvPr>
          <p:cNvSpPr/>
          <p:nvPr/>
        </p:nvSpPr>
        <p:spPr>
          <a:xfrm>
            <a:off x="5669280" y="1203960"/>
            <a:ext cx="54864" cy="1156879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A9F0ACFB-5B3A-A534-CA48-70172B6A2941}"/>
              </a:ext>
            </a:extLst>
          </p:cNvPr>
          <p:cNvSpPr/>
          <p:nvPr/>
        </p:nvSpPr>
        <p:spPr>
          <a:xfrm>
            <a:off x="5943600" y="12496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~54%</a:t>
            </a:r>
            <a:endParaRPr lang="en-US" sz="28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47D3AEBE-8D87-70D6-5D86-70F4149C19F5}"/>
              </a:ext>
            </a:extLst>
          </p:cNvPr>
          <p:cNvSpPr/>
          <p:nvPr/>
        </p:nvSpPr>
        <p:spPr>
          <a:xfrm>
            <a:off x="5943600" y="18592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ML projects never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to production</a:t>
            </a:r>
            <a:endParaRPr lang="en-US" sz="1100" dirty="0"/>
          </a:p>
        </p:txBody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40DF2E02-5328-D568-0155-C2747FCC528D}"/>
              </a:ext>
            </a:extLst>
          </p:cNvPr>
          <p:cNvSpPr/>
          <p:nvPr/>
        </p:nvSpPr>
        <p:spPr>
          <a:xfrm>
            <a:off x="5669280" y="2571750"/>
            <a:ext cx="3017520" cy="183261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A6F9AF5A-91F1-8F6D-BB40-2B2E3614594A}"/>
              </a:ext>
            </a:extLst>
          </p:cNvPr>
          <p:cNvSpPr/>
          <p:nvPr/>
        </p:nvSpPr>
        <p:spPr>
          <a:xfrm>
            <a:off x="5669280" y="2571750"/>
            <a:ext cx="54864" cy="183261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E1610E73-29FE-7292-C997-78E74293700A}"/>
              </a:ext>
            </a:extLst>
          </p:cNvPr>
          <p:cNvSpPr/>
          <p:nvPr/>
        </p:nvSpPr>
        <p:spPr>
          <a:xfrm>
            <a:off x="5943600" y="2667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B55CB11-6BA2-BEAF-931F-67976E5243E7}"/>
              </a:ext>
            </a:extLst>
          </p:cNvPr>
          <p:cNvSpPr/>
          <p:nvPr/>
        </p:nvSpPr>
        <p:spPr>
          <a:xfrm>
            <a:off x="5943600" y="3032760"/>
            <a:ext cx="2468880" cy="588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"MLOps" searches have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exploded since 2020,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peaking in 2024</a:t>
            </a:r>
            <a:endParaRPr lang="en-US" sz="1100" dirty="0"/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2FFE4B49-257C-C882-CBF5-502070CFBD8B}"/>
              </a:ext>
            </a:extLst>
          </p:cNvPr>
          <p:cNvSpPr/>
          <p:nvPr/>
        </p:nvSpPr>
        <p:spPr>
          <a:xfrm>
            <a:off x="5943600" y="3992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 Trends</a:t>
            </a:r>
            <a:endParaRPr lang="en-US" sz="800" dirty="0"/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2B92FE26-3510-AB08-F2BE-375426D8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736" y="3621723"/>
            <a:ext cx="2651760" cy="72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84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DevOpsを加速させるソフトウェア開発高速化ツールとは？ | INSIGHT H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219" y="2415541"/>
            <a:ext cx="3911454" cy="219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MLOps = DevOps applied to Machine Learning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MLOps stands for "</a:t>
            </a:r>
            <a:r>
              <a:rPr lang="en-US" b="1" dirty="0"/>
              <a:t>Machine Learning Operations</a:t>
            </a:r>
            <a:r>
              <a:rPr lang="en-US" dirty="0"/>
              <a:t>“ (2015)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MLOps empowers data scientists and app developers to help </a:t>
            </a:r>
            <a:r>
              <a:rPr lang="en-US" b="1" dirty="0"/>
              <a:t>bring ML models to production</a:t>
            </a:r>
            <a:r>
              <a:rPr lang="en-US" dirty="0"/>
              <a:t>. MLOps enables you to track / version / audit / certify / re-use every asset in your ML lifecycle and provides </a:t>
            </a:r>
            <a:r>
              <a:rPr lang="en-US" b="1" dirty="0"/>
              <a:t>orchestration </a:t>
            </a:r>
            <a:r>
              <a:rPr lang="en-US" dirty="0"/>
              <a:t>services</a:t>
            </a:r>
            <a:r>
              <a:rPr lang="en-US" b="1" dirty="0"/>
              <a:t> </a:t>
            </a:r>
            <a:r>
              <a:rPr lang="en-US" dirty="0"/>
              <a:t>to streamline </a:t>
            </a:r>
            <a:r>
              <a:rPr lang="en-US" b="1" dirty="0"/>
              <a:t>managing this lifecycle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MLOps originates from </a:t>
            </a:r>
            <a:r>
              <a:rPr lang="en-US" b="1" dirty="0"/>
              <a:t>DevOps </a:t>
            </a:r>
            <a:r>
              <a:rPr lang="en-US" dirty="0"/>
              <a:t>(2007)</a:t>
            </a:r>
            <a:r>
              <a:rPr lang="en-US" b="1" dirty="0"/>
              <a:t>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DevOps is a set of </a:t>
            </a:r>
            <a:r>
              <a:rPr lang="en-US" b="1" dirty="0"/>
              <a:t>Best practices </a:t>
            </a:r>
            <a:r>
              <a:rPr lang="en-US" dirty="0"/>
              <a:t>and </a:t>
            </a:r>
            <a:r>
              <a:rPr lang="en-US" b="1" dirty="0"/>
              <a:t>technologies </a:t>
            </a:r>
          </a:p>
          <a:p>
            <a:pPr marL="0" indent="0">
              <a:buNone/>
            </a:pPr>
            <a:r>
              <a:rPr lang="en-US" dirty="0"/>
              <a:t>to manage efficiently the lifecycle of the development of a Software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DevOps</a:t>
            </a:r>
            <a:r>
              <a:rPr lang="en-US" b="1" dirty="0"/>
              <a:t> </a:t>
            </a:r>
            <a:r>
              <a:rPr lang="en-US" dirty="0"/>
              <a:t>originates from </a:t>
            </a:r>
            <a:r>
              <a:rPr lang="en-US" b="1" dirty="0"/>
              <a:t>Agile philosophy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4</a:t>
            </a:fld>
            <a:endParaRPr lang="fr-FR" dirty="0"/>
          </a:p>
        </p:txBody>
      </p:sp>
      <p:sp>
        <p:nvSpPr>
          <p:cNvPr id="6" name="AutoShape 2" descr="image"/>
          <p:cNvSpPr>
            <a:spLocks noChangeAspect="1" noChangeArrowheads="1"/>
          </p:cNvSpPr>
          <p:nvPr/>
        </p:nvSpPr>
        <p:spPr bwMode="auto">
          <a:xfrm>
            <a:off x="116681" y="-108346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013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2233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MLOps — Wikipédia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208" b="-1"/>
          <a:stretch/>
        </p:blipFill>
        <p:spPr bwMode="auto">
          <a:xfrm>
            <a:off x="3100531" y="850523"/>
            <a:ext cx="3074827" cy="221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 put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straightforward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95787" y="999990"/>
            <a:ext cx="8352928" cy="335041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MLOps is a set of technologies and best practices that has 4 objectives:</a:t>
            </a:r>
          </a:p>
          <a:p>
            <a:pPr marL="0" indent="0">
              <a:buNone/>
            </a:pPr>
            <a:r>
              <a:rPr lang="en-US" dirty="0"/>
              <a:t>1</a:t>
            </a:r>
            <a:r>
              <a:rPr lang="en-US" b="1" dirty="0"/>
              <a:t>. Bring ML models to production</a:t>
            </a:r>
            <a:r>
              <a:rPr lang="en-US" dirty="0"/>
              <a:t>, so the models can be used</a:t>
            </a:r>
          </a:p>
          <a:p>
            <a:pPr marL="0" indent="0">
              <a:buNone/>
            </a:pPr>
            <a:r>
              <a:rPr lang="en-US" dirty="0"/>
              <a:t>2. Allow the </a:t>
            </a:r>
            <a:r>
              <a:rPr lang="en-US" b="1" dirty="0"/>
              <a:t>maintenance </a:t>
            </a:r>
            <a:r>
              <a:rPr lang="en-US" dirty="0"/>
              <a:t>of models in production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Monitor the lifecycle of a ML project</a:t>
            </a:r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Automatize</a:t>
            </a:r>
            <a:r>
              <a:rPr lang="en-US" dirty="0"/>
              <a:t> as many tasks as possible while achieving objectives #1 et #2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5</a:t>
            </a:fld>
            <a:endParaRPr lang="fr-FR" dirty="0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9302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does</a:t>
            </a:r>
            <a:r>
              <a:rPr lang="fr-FR" dirty="0"/>
              <a:t> a </a:t>
            </a:r>
            <a:r>
              <a:rPr lang="fr-FR" dirty="0" err="1"/>
              <a:t>typical</a:t>
            </a:r>
            <a:r>
              <a:rPr lang="fr-FR" dirty="0"/>
              <a:t> ML </a:t>
            </a:r>
            <a:r>
              <a:rPr lang="fr-FR" dirty="0" err="1"/>
              <a:t>project</a:t>
            </a:r>
            <a:r>
              <a:rPr lang="fr-FR" dirty="0"/>
              <a:t> look </a:t>
            </a:r>
            <a:r>
              <a:rPr lang="fr-FR" dirty="0" err="1"/>
              <a:t>like</a:t>
            </a:r>
            <a:r>
              <a:rPr lang="fr-FR" dirty="0"/>
              <a:t> 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The ML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b="1" dirty="0"/>
              <a:t>source code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6</a:t>
            </a:fld>
            <a:endParaRPr lang="fr-FR" dirty="0"/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BA59BA3-B17F-1219-440A-B861E9992DF4}"/>
              </a:ext>
            </a:extLst>
          </p:cNvPr>
          <p:cNvSpPr/>
          <p:nvPr/>
        </p:nvSpPr>
        <p:spPr>
          <a:xfrm>
            <a:off x="27432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931826E2-742B-BA1C-4199-9A4BF62B361B}"/>
              </a:ext>
            </a:extLst>
          </p:cNvPr>
          <p:cNvSpPr/>
          <p:nvPr/>
        </p:nvSpPr>
        <p:spPr>
          <a:xfrm>
            <a:off x="27432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Collection</a:t>
            </a:r>
            <a:endParaRPr lang="en-US" sz="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B1D12EC-C2A6-85C2-A539-450B7E4D8C71}"/>
              </a:ext>
            </a:extLst>
          </p:cNvPr>
          <p:cNvSpPr/>
          <p:nvPr/>
        </p:nvSpPr>
        <p:spPr>
          <a:xfrm>
            <a:off x="148132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8EDCD7A-D7D4-B438-B033-7C93B6E6BA4A}"/>
              </a:ext>
            </a:extLst>
          </p:cNvPr>
          <p:cNvSpPr/>
          <p:nvPr/>
        </p:nvSpPr>
        <p:spPr>
          <a:xfrm>
            <a:off x="169164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2C0B22F-5648-990E-D652-B59C19069FD7}"/>
              </a:ext>
            </a:extLst>
          </p:cNvPr>
          <p:cNvSpPr/>
          <p:nvPr/>
        </p:nvSpPr>
        <p:spPr>
          <a:xfrm>
            <a:off x="169164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Exploratory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F1EC8E8-D3B5-E40E-83F3-2C5D9075AA8B}"/>
              </a:ext>
            </a:extLst>
          </p:cNvPr>
          <p:cNvSpPr/>
          <p:nvPr/>
        </p:nvSpPr>
        <p:spPr>
          <a:xfrm>
            <a:off x="289864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B4B25CA1-837E-F900-6188-78A61D5F3087}"/>
              </a:ext>
            </a:extLst>
          </p:cNvPr>
          <p:cNvSpPr/>
          <p:nvPr/>
        </p:nvSpPr>
        <p:spPr>
          <a:xfrm>
            <a:off x="310896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E0C44B-8A99-8CD4-CABE-260344DA54D8}"/>
              </a:ext>
            </a:extLst>
          </p:cNvPr>
          <p:cNvSpPr/>
          <p:nvPr/>
        </p:nvSpPr>
        <p:spPr>
          <a:xfrm>
            <a:off x="310896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Data Prep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Feature Eng.</a:t>
            </a:r>
            <a:endParaRPr lang="en-US" sz="85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52061CAE-64B0-80E0-17FD-064488E60F2E}"/>
              </a:ext>
            </a:extLst>
          </p:cNvPr>
          <p:cNvSpPr/>
          <p:nvPr/>
        </p:nvSpPr>
        <p:spPr>
          <a:xfrm>
            <a:off x="431596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78658005-DCFC-0898-C679-7A3DCA074727}"/>
              </a:ext>
            </a:extLst>
          </p:cNvPr>
          <p:cNvSpPr/>
          <p:nvPr/>
        </p:nvSpPr>
        <p:spPr>
          <a:xfrm>
            <a:off x="4526280" y="1074420"/>
            <a:ext cx="1234440" cy="548640"/>
          </a:xfrm>
          <a:prstGeom prst="rect">
            <a:avLst/>
          </a:prstGeom>
          <a:solidFill>
            <a:srgbClr val="0EA5E9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702EEDE7-505B-1B0A-3D7E-2BDFC7F60BB1}"/>
              </a:ext>
            </a:extLst>
          </p:cNvPr>
          <p:cNvSpPr/>
          <p:nvPr/>
        </p:nvSpPr>
        <p:spPr>
          <a:xfrm>
            <a:off x="452628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C9115A63-2ED8-817B-D4D5-B891A01D38DD}"/>
              </a:ext>
            </a:extLst>
          </p:cNvPr>
          <p:cNvSpPr/>
          <p:nvPr/>
        </p:nvSpPr>
        <p:spPr>
          <a:xfrm>
            <a:off x="573328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A392CEEC-6997-FD71-8A79-ADA9917F7B23}"/>
              </a:ext>
            </a:extLst>
          </p:cNvPr>
          <p:cNvSpPr/>
          <p:nvPr/>
        </p:nvSpPr>
        <p:spPr>
          <a:xfrm>
            <a:off x="594360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10EF5A3A-20B9-1236-33F4-92B09FA2A59A}"/>
              </a:ext>
            </a:extLst>
          </p:cNvPr>
          <p:cNvSpPr/>
          <p:nvPr/>
        </p:nvSpPr>
        <p:spPr>
          <a:xfrm>
            <a:off x="594360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Evaluation</a:t>
            </a:r>
            <a:endParaRPr lang="en-US" sz="85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EA8B6BDD-7B87-9A46-F3EC-FE970C39A4A0}"/>
              </a:ext>
            </a:extLst>
          </p:cNvPr>
          <p:cNvSpPr/>
          <p:nvPr/>
        </p:nvSpPr>
        <p:spPr>
          <a:xfrm>
            <a:off x="7150608" y="11201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E42EC961-8D2D-3BA9-62B2-48EB3D6ED031}"/>
              </a:ext>
            </a:extLst>
          </p:cNvPr>
          <p:cNvSpPr/>
          <p:nvPr/>
        </p:nvSpPr>
        <p:spPr>
          <a:xfrm>
            <a:off x="7360920" y="1074420"/>
            <a:ext cx="1234440" cy="54864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47A00809-287F-8B8C-D362-745CE4195663}"/>
              </a:ext>
            </a:extLst>
          </p:cNvPr>
          <p:cNvSpPr/>
          <p:nvPr/>
        </p:nvSpPr>
        <p:spPr>
          <a:xfrm>
            <a:off x="7360920" y="10744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536FB561-3264-0088-1E87-125E2227B481}"/>
              </a:ext>
            </a:extLst>
          </p:cNvPr>
          <p:cNvSpPr/>
          <p:nvPr/>
        </p:nvSpPr>
        <p:spPr>
          <a:xfrm>
            <a:off x="457200" y="209550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5577A53-33B8-4A33-809A-D3CAE5D6978F}"/>
              </a:ext>
            </a:extLst>
          </p:cNvPr>
          <p:cNvSpPr/>
          <p:nvPr/>
        </p:nvSpPr>
        <p:spPr>
          <a:xfrm>
            <a:off x="594360" y="21869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ml_project/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train/       # Training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test/        # Test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raw/         # Unprocessed data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train.py     # Training script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inference.py # Predictions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model.py     # Model definition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preprocess.py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notebooks/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eda.ipynb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model_training.ipynb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artifacts/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model.pkl    # Trained model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metrics.json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requirements.txt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config.yaml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75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9142D7BC-9BFE-FA52-B310-5B1A75D6DED4}"/>
              </a:ext>
            </a:extLst>
          </p:cNvPr>
          <p:cNvSpPr/>
          <p:nvPr/>
        </p:nvSpPr>
        <p:spPr>
          <a:xfrm>
            <a:off x="4754880" y="209550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DD7D9EAA-E1AF-025B-66C2-4531CF672271}"/>
              </a:ext>
            </a:extLst>
          </p:cNvPr>
          <p:cNvSpPr/>
          <p:nvPr/>
        </p:nvSpPr>
        <p:spPr>
          <a:xfrm>
            <a:off x="4754880" y="2095500"/>
            <a:ext cx="54864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F614910A-0D50-ABB1-E747-C8F2961C323C}"/>
              </a:ext>
            </a:extLst>
          </p:cNvPr>
          <p:cNvSpPr/>
          <p:nvPr/>
        </p:nvSpPr>
        <p:spPr>
          <a:xfrm>
            <a:off x="502920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Key questions</a:t>
            </a:r>
            <a:endParaRPr lang="en-US" sz="14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044DBD69-FCC1-6AB8-6C7D-5E13D98B08C7}"/>
              </a:ext>
            </a:extLst>
          </p:cNvPr>
          <p:cNvSpPr/>
          <p:nvPr/>
        </p:nvSpPr>
        <p:spPr>
          <a:xfrm>
            <a:off x="5029200" y="26593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track which hyperparameters gave the best results?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share results with my team?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deploy this model so users can access it?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know if performance degrades over time?</a:t>
            </a:r>
            <a:endParaRPr lang="en-US" sz="105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</a:rPr>
              <a:t>How do I update the model without downtime?</a:t>
            </a:r>
            <a:endParaRPr lang="en-US" sz="1050" dirty="0"/>
          </a:p>
        </p:txBody>
      </p:sp>
      <p:pic>
        <p:nvPicPr>
          <p:cNvPr id="34" name="Picture 2" descr="210+ Code Repository Illustrations, Royalty-Free Vector Graphics &amp; Clip ...">
            <a:extLst>
              <a:ext uri="{FF2B5EF4-FFF2-40B4-BE49-F238E27FC236}">
                <a16:creationId xmlns:a16="http://schemas.microsoft.com/office/drawing/2014/main" id="{2CD4533D-4910-108D-B04D-46832862B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97" y="2020641"/>
            <a:ext cx="642991" cy="642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86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Challenges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deploying</a:t>
            </a:r>
            <a:r>
              <a:rPr lang="fr-FR" dirty="0"/>
              <a:t> ML </a:t>
            </a:r>
            <a:r>
              <a:rPr lang="fr-FR" dirty="0" err="1"/>
              <a:t>models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95538" y="1005841"/>
            <a:ext cx="8352928" cy="387795"/>
          </a:xfrm>
        </p:spPr>
        <p:txBody>
          <a:bodyPr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+mn-lt"/>
                <a:ea typeface="Calibri" pitchFamily="34" charset="-122"/>
                <a:cs typeface="Calibri" pitchFamily="34" charset="-120"/>
              </a:rPr>
              <a:t>Deploying a ML model = serving source code on a target server and running it</a:t>
            </a: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7</a:t>
            </a:fld>
            <a:endParaRPr lang="fr-FR" dirty="0"/>
          </a:p>
        </p:txBody>
      </p:sp>
      <p:sp>
        <p:nvSpPr>
          <p:cNvPr id="7" name="AutoShape 2" descr="Server computer icon, isometric style 15381321 Vector Art at Vecteezy"/>
          <p:cNvSpPr>
            <a:spLocks noChangeAspect="1" noChangeArrowheads="1"/>
          </p:cNvSpPr>
          <p:nvPr/>
        </p:nvSpPr>
        <p:spPr bwMode="auto">
          <a:xfrm>
            <a:off x="116681" y="-108346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fr-FR" sz="1013"/>
          </a:p>
        </p:txBody>
      </p:sp>
      <p:sp>
        <p:nvSpPr>
          <p:cNvPr id="12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34A4FF0E-247A-FC1D-DDFB-AC7F491B65E9}"/>
              </a:ext>
            </a:extLst>
          </p:cNvPr>
          <p:cNvSpPr/>
          <p:nvPr/>
        </p:nvSpPr>
        <p:spPr>
          <a:xfrm>
            <a:off x="548640" y="1653539"/>
            <a:ext cx="3840480" cy="2119879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705E048-0DAC-80F9-236C-E6F64084267D}"/>
              </a:ext>
            </a:extLst>
          </p:cNvPr>
          <p:cNvSpPr/>
          <p:nvPr/>
        </p:nvSpPr>
        <p:spPr>
          <a:xfrm>
            <a:off x="548640" y="1653540"/>
            <a:ext cx="54864" cy="211987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01C9708-D9F8-1971-583F-04802257A616}"/>
              </a:ext>
            </a:extLst>
          </p:cNvPr>
          <p:cNvSpPr/>
          <p:nvPr/>
        </p:nvSpPr>
        <p:spPr>
          <a:xfrm>
            <a:off x="777240" y="17449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D1B179F-2F3A-F6B0-1756-115A997D9991}"/>
              </a:ext>
            </a:extLst>
          </p:cNvPr>
          <p:cNvSpPr/>
          <p:nvPr/>
        </p:nvSpPr>
        <p:spPr>
          <a:xfrm>
            <a:off x="777240" y="1973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Environment mismatch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7E28695-3BD3-F5DC-2E92-FBC3D9F29E35}"/>
              </a:ext>
            </a:extLst>
          </p:cNvPr>
          <p:cNvSpPr/>
          <p:nvPr/>
        </p:nvSpPr>
        <p:spPr>
          <a:xfrm>
            <a:off x="777240" y="23393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The target server likely has different specs: different Python version, different OS, missing libraries...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4C7D2EA-2357-2F3F-78A4-D18709FC6DFC}"/>
              </a:ext>
            </a:extLst>
          </p:cNvPr>
          <p:cNvSpPr/>
          <p:nvPr/>
        </p:nvSpPr>
        <p:spPr>
          <a:xfrm>
            <a:off x="777240" y="2933700"/>
            <a:ext cx="338328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F729F7-3E5A-2661-2AD3-CB5B5F50CFD1}"/>
              </a:ext>
            </a:extLst>
          </p:cNvPr>
          <p:cNvSpPr/>
          <p:nvPr/>
        </p:nvSpPr>
        <p:spPr>
          <a:xfrm>
            <a:off x="777240" y="30251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9800E2-5893-4E03-2FB6-67A85F710492}"/>
              </a:ext>
            </a:extLst>
          </p:cNvPr>
          <p:cNvSpPr/>
          <p:nvPr/>
        </p:nvSpPr>
        <p:spPr>
          <a:xfrm>
            <a:off x="777240" y="32537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Containerization (Docker)</a:t>
            </a:r>
            <a:r>
              <a:rPr lang="en-US" sz="1100" dirty="0">
                <a:solidFill>
                  <a:srgbClr val="475569"/>
                </a:solidFill>
              </a:rPr>
              <a:t> — Package code + dependencies in isolated containers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31E5119-87CD-B691-D26D-BCC00992778C}"/>
              </a:ext>
            </a:extLst>
          </p:cNvPr>
          <p:cNvSpPr/>
          <p:nvPr/>
        </p:nvSpPr>
        <p:spPr>
          <a:xfrm>
            <a:off x="4754880" y="1653540"/>
            <a:ext cx="3840480" cy="211987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D2A4D5F-FFA7-A332-9711-61D4D66A6881}"/>
              </a:ext>
            </a:extLst>
          </p:cNvPr>
          <p:cNvSpPr/>
          <p:nvPr/>
        </p:nvSpPr>
        <p:spPr>
          <a:xfrm>
            <a:off x="4754880" y="1653540"/>
            <a:ext cx="53340" cy="211987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F784212-4E6D-0CBD-9795-73A5CC3779C4}"/>
              </a:ext>
            </a:extLst>
          </p:cNvPr>
          <p:cNvSpPr/>
          <p:nvPr/>
        </p:nvSpPr>
        <p:spPr>
          <a:xfrm>
            <a:off x="4983480" y="17449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ea typeface="Calibri" pitchFamily="34" charset="-122"/>
                <a:cs typeface="Calibri" pitchFamily="34" charset="-120"/>
              </a:rPr>
              <a:t>Challenge</a:t>
            </a:r>
            <a:endParaRPr lang="en-US" sz="1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C8F19CA-4BCE-DABE-810B-B7A0D6B26404}"/>
              </a:ext>
            </a:extLst>
          </p:cNvPr>
          <p:cNvSpPr/>
          <p:nvPr/>
        </p:nvSpPr>
        <p:spPr>
          <a:xfrm>
            <a:off x="4983480" y="19735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Continuous improvement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46937BD-A9AB-A951-9E2C-08CC9E6E9FF9}"/>
              </a:ext>
            </a:extLst>
          </p:cNvPr>
          <p:cNvSpPr/>
          <p:nvPr/>
        </p:nvSpPr>
        <p:spPr>
          <a:xfrm>
            <a:off x="4983480" y="23393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Once deployed, how do you keep improving the model? Switch algorithms? Update with new data?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7BD9371-204A-DBA3-B893-2322C27E837A}"/>
              </a:ext>
            </a:extLst>
          </p:cNvPr>
          <p:cNvSpPr/>
          <p:nvPr/>
        </p:nvSpPr>
        <p:spPr>
          <a:xfrm>
            <a:off x="4983480" y="2933700"/>
            <a:ext cx="3383280" cy="45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AFA084F-954D-BE91-3B25-8380347C3F36}"/>
              </a:ext>
            </a:extLst>
          </p:cNvPr>
          <p:cNvSpPr/>
          <p:nvPr/>
        </p:nvSpPr>
        <p:spPr>
          <a:xfrm>
            <a:off x="4983480" y="30251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D522A26-E827-A54A-1B77-25D833383E7C}"/>
              </a:ext>
            </a:extLst>
          </p:cNvPr>
          <p:cNvSpPr/>
          <p:nvPr/>
        </p:nvSpPr>
        <p:spPr>
          <a:xfrm>
            <a:off x="4983480" y="3291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CI/CD pipelines</a:t>
            </a:r>
            <a:r>
              <a:rPr lang="en-US" sz="1100" dirty="0">
                <a:solidFill>
                  <a:srgbClr val="475569"/>
                </a:solidFill>
              </a:rPr>
              <a:t> — Continuous Integration &amp; Continuous Deployment automate the update cycle</a:t>
            </a:r>
            <a:endParaRPr lang="en-US" sz="1200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2FF21F8-F9A7-0832-BF68-834FDC397C2B}"/>
              </a:ext>
            </a:extLst>
          </p:cNvPr>
          <p:cNvSpPr txBox="1"/>
          <p:nvPr/>
        </p:nvSpPr>
        <p:spPr>
          <a:xfrm>
            <a:off x="1414482" y="4072257"/>
            <a:ext cx="63036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E9"/>
                </a:solidFill>
                <a:ea typeface="Calibri" pitchFamily="34" charset="-122"/>
                <a:cs typeface="Calibri" pitchFamily="34" charset="-120"/>
              </a:rPr>
              <a:t>These are DevOps solutions adapted for ML — this is exactly what MLOps is about!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3051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 </a:t>
            </a:r>
            <a:r>
              <a:rPr lang="fr-FR" dirty="0" err="1"/>
              <a:t>projects</a:t>
            </a:r>
            <a:r>
              <a:rPr lang="fr-FR" dirty="0"/>
              <a:t> are </a:t>
            </a:r>
            <a:r>
              <a:rPr lang="fr-FR" dirty="0" err="1"/>
              <a:t>complex</a:t>
            </a:r>
            <a:r>
              <a:rPr lang="fr-FR" dirty="0"/>
              <a:t> – Far </a:t>
            </a:r>
            <a:r>
              <a:rPr lang="fr-FR" dirty="0" err="1"/>
              <a:t>beyond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code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8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/>
              <a:t>2022 | ©HeadMind Partners AI &amp; Blockchain | Confidentiel</a:t>
            </a:r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09" y="918756"/>
            <a:ext cx="4397075" cy="328850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355734" y="4232964"/>
            <a:ext cx="1969226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13" b="1" i="1" dirty="0"/>
              <a:t>Google (2015)</a:t>
            </a:r>
          </a:p>
        </p:txBody>
      </p:sp>
      <p:pic>
        <p:nvPicPr>
          <p:cNvPr id="4098" name="Picture 2" descr="Les systèmes de ML vont bien au-delà que le simple code de ML.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5726" y="1745653"/>
            <a:ext cx="4684177" cy="194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7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MLOps</a:t>
            </a:r>
            <a:r>
              <a:rPr lang="fr-FR" dirty="0"/>
              <a:t> </a:t>
            </a:r>
            <a:r>
              <a:rPr lang="fr-FR" dirty="0" err="1"/>
              <a:t>worfklow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9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43" y="945310"/>
            <a:ext cx="7533761" cy="3477121"/>
          </a:xfrm>
          <a:prstGeom prst="rect">
            <a:avLst/>
          </a:prstGeom>
        </p:spPr>
      </p:pic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5480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Deploying</a:t>
            </a:r>
            <a:r>
              <a:rPr lang="fr-FR" dirty="0"/>
              <a:t> a ML </a:t>
            </a:r>
            <a:r>
              <a:rPr lang="fr-FR" dirty="0" err="1"/>
              <a:t>project</a:t>
            </a:r>
            <a:r>
              <a:rPr lang="fr-FR" dirty="0"/>
              <a:t> </a:t>
            </a:r>
            <a:r>
              <a:rPr lang="fr-FR" dirty="0" err="1"/>
              <a:t>involves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data experts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10</a:t>
            </a:fld>
            <a:endParaRPr lang="fr-FR" dirty="0"/>
          </a:p>
        </p:txBody>
      </p:sp>
      <p:pic>
        <p:nvPicPr>
          <p:cNvPr id="10244" name="Picture 4" descr="What is MLOps — Everything You Must Know to Get Started | by Harshit ...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42" t="10934" r="8099" b="8346"/>
          <a:stretch/>
        </p:blipFill>
        <p:spPr bwMode="auto">
          <a:xfrm>
            <a:off x="2119913" y="935724"/>
            <a:ext cx="5036063" cy="3596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84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MLOps </a:t>
            </a:r>
            <a:r>
              <a:rPr lang="fr-FR" dirty="0" err="1"/>
              <a:t>comes</a:t>
            </a:r>
            <a:r>
              <a:rPr lang="fr-FR" dirty="0"/>
              <a:t> hand-in-hand </a:t>
            </a:r>
            <a:r>
              <a:rPr lang="fr-FR" dirty="0" err="1"/>
              <a:t>with</a:t>
            </a:r>
            <a:r>
              <a:rPr lang="fr-FR" dirty="0"/>
              <a:t> Cloud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412926" y="1013053"/>
            <a:ext cx="8352928" cy="3642767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+mn-lt"/>
              </a:rPr>
              <a:t>Cloud </a:t>
            </a:r>
            <a:r>
              <a:rPr lang="fr-FR" sz="1400" b="1" dirty="0">
                <a:latin typeface="+mn-lt"/>
              </a:rPr>
              <a:t>= </a:t>
            </a:r>
            <a:r>
              <a:rPr lang="en-US" sz="1400" dirty="0">
                <a:solidFill>
                  <a:srgbClr val="475569"/>
                </a:solidFill>
                <a:latin typeface="+mn-lt"/>
              </a:rPr>
              <a:t>remote servers accessible through a network.</a:t>
            </a:r>
            <a:endParaRPr lang="fr-FR" sz="1400" dirty="0">
              <a:latin typeface="+mn-lt"/>
            </a:endParaRPr>
          </a:p>
          <a:p>
            <a:pPr marL="0" indent="0">
              <a:buNone/>
            </a:pPr>
            <a:r>
              <a:rPr lang="fr-FR" b="1" dirty="0">
                <a:latin typeface="+mn-lt"/>
              </a:rPr>
              <a:t>Public Cloud </a:t>
            </a:r>
            <a:r>
              <a:rPr lang="en-US" sz="1400" dirty="0">
                <a:solidFill>
                  <a:srgbClr val="475569"/>
                </a:solidFill>
                <a:latin typeface="+mn-lt"/>
              </a:rPr>
              <a:t>= servers accessible through the internet.</a:t>
            </a:r>
            <a:endParaRPr lang="fr-FR" sz="1400" dirty="0">
              <a:solidFill>
                <a:srgbClr val="475569"/>
              </a:solidFill>
              <a:latin typeface="+mn-lt"/>
            </a:endParaRPr>
          </a:p>
          <a:p>
            <a:pPr marL="0" indent="0">
              <a:buNone/>
            </a:pPr>
            <a:endParaRPr lang="fr-FR" sz="600" dirty="0"/>
          </a:p>
          <a:p>
            <a:pPr marL="0" indent="0" algn="ctr">
              <a:buNone/>
            </a:pPr>
            <a:r>
              <a:rPr lang="fr-FR" dirty="0"/>
              <a:t>The Big 3 Cloud Providers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800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Cloud </a:t>
            </a:r>
            <a:r>
              <a:rPr lang="fr-FR" dirty="0" err="1"/>
              <a:t>provides</a:t>
            </a:r>
            <a:r>
              <a:rPr lang="fr-FR" dirty="0"/>
              <a:t> </a:t>
            </a:r>
            <a:r>
              <a:rPr lang="fr-FR" b="1" dirty="0" err="1"/>
              <a:t>useful</a:t>
            </a:r>
            <a:r>
              <a:rPr lang="fr-FR" b="1" dirty="0"/>
              <a:t> services </a:t>
            </a:r>
            <a:r>
              <a:rPr lang="fr-FR" dirty="0"/>
              <a:t>for ML: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b="1" dirty="0" err="1"/>
              <a:t>Compute</a:t>
            </a:r>
            <a:r>
              <a:rPr lang="fr-FR" dirty="0"/>
              <a:t> (GPU, RAM)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b="1" dirty="0"/>
              <a:t>Storage</a:t>
            </a:r>
            <a:r>
              <a:rPr lang="fr-FR" dirty="0"/>
              <a:t> (</a:t>
            </a:r>
            <a:r>
              <a:rPr lang="fr-FR" dirty="0" err="1"/>
              <a:t>e.g</a:t>
            </a:r>
            <a:r>
              <a:rPr lang="fr-FR" dirty="0"/>
              <a:t>. for data)</a:t>
            </a:r>
          </a:p>
          <a:p>
            <a:pPr marL="0" indent="0">
              <a:buNone/>
            </a:pPr>
            <a:r>
              <a:rPr lang="fr-FR" dirty="0"/>
              <a:t>	- </a:t>
            </a:r>
            <a:r>
              <a:rPr lang="en-US" sz="1400" b="1" dirty="0">
                <a:solidFill>
                  <a:srgbClr val="0F172A"/>
                </a:solidFill>
              </a:rPr>
              <a:t>Managed ML services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	- </a:t>
            </a:r>
            <a:r>
              <a:rPr lang="fr-FR" b="1" dirty="0" err="1"/>
              <a:t>Foundation</a:t>
            </a:r>
            <a:r>
              <a:rPr lang="fr-FR" b="1" dirty="0"/>
              <a:t> </a:t>
            </a:r>
            <a:r>
              <a:rPr lang="fr-FR" b="1" dirty="0" err="1"/>
              <a:t>Models</a:t>
            </a:r>
            <a:r>
              <a:rPr lang="fr-FR" b="1" dirty="0"/>
              <a:t> </a:t>
            </a:r>
            <a:r>
              <a:rPr lang="fr-FR" dirty="0" err="1"/>
              <a:t>available</a:t>
            </a:r>
            <a:r>
              <a:rPr lang="fr-FR" dirty="0"/>
              <a:t> as APIs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11</a:t>
            </a:fld>
            <a:endParaRPr lang="fr-FR" dirty="0"/>
          </a:p>
        </p:txBody>
      </p:sp>
      <p:pic>
        <p:nvPicPr>
          <p:cNvPr id="8202" name="Picture 10" descr="Google Cloud Platform Logo (GCP) - PNG Logo Vector Brand Downloads (SVG,  EPS)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415" y="2262800"/>
            <a:ext cx="1235228" cy="7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Amazon Web Services récompense 5 revendeurs en France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8528" y="2164155"/>
            <a:ext cx="1537043" cy="86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8" name="Picture 16" descr="Microsoft Azure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614" y="2262800"/>
            <a:ext cx="1135070" cy="711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216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12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pic>
        <p:nvPicPr>
          <p:cNvPr id="1026" name="Picture 2" descr="mlflow">
            <a:extLst>
              <a:ext uri="{FF2B5EF4-FFF2-40B4-BE49-F238E27FC236}">
                <a16:creationId xmlns:a16="http://schemas.microsoft.com/office/drawing/2014/main" id="{6C846DAD-E0D4-35DB-E189-0B81EFF57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205" y="844914"/>
            <a:ext cx="4455795" cy="163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46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MLFlow</a:t>
            </a:r>
            <a:r>
              <a:rPr lang="fr-FR" dirty="0"/>
              <a:t> </a:t>
            </a:r>
            <a:r>
              <a:rPr lang="fr-FR" dirty="0" err="1"/>
              <a:t>follows</a:t>
            </a:r>
            <a:r>
              <a:rPr lang="fr-FR" dirty="0"/>
              <a:t> the trend of </a:t>
            </a:r>
            <a:r>
              <a:rPr lang="fr-FR" dirty="0" err="1"/>
              <a:t>increasing</a:t>
            </a:r>
            <a:r>
              <a:rPr lang="fr-FR" dirty="0"/>
              <a:t> </a:t>
            </a:r>
            <a:r>
              <a:rPr lang="fr-FR" dirty="0" err="1"/>
              <a:t>interest</a:t>
            </a:r>
            <a:r>
              <a:rPr lang="fr-FR" dirty="0"/>
              <a:t> for </a:t>
            </a:r>
            <a:r>
              <a:rPr lang="fr-FR" dirty="0" err="1"/>
              <a:t>MLOps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pic>
        <p:nvPicPr>
          <p:cNvPr id="6" name="Picture 2" descr="MLflow Documentation — MLflow 2.2.2 documentation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436" y="218142"/>
            <a:ext cx="1558391" cy="571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931" y="1866505"/>
            <a:ext cx="8277565" cy="2181512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131" y="1473598"/>
            <a:ext cx="1950244" cy="392906"/>
          </a:xfrm>
          <a:prstGeom prst="rect">
            <a:avLst/>
          </a:prstGeom>
        </p:spPr>
      </p:pic>
      <p:sp>
        <p:nvSpPr>
          <p:cNvPr id="9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7531252" y="4353583"/>
            <a:ext cx="1552298" cy="297260"/>
          </a:xfrm>
        </p:spPr>
        <p:txBody>
          <a:bodyPr/>
          <a:lstStyle/>
          <a:p>
            <a:pPr marL="0" indent="0">
              <a:buNone/>
            </a:pPr>
            <a:r>
              <a:rPr lang="fr-FR" sz="900" i="1" dirty="0"/>
              <a:t>Source : Google Trends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813" y="1035134"/>
            <a:ext cx="1221581" cy="29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36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MLFlow ?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Open source platform </a:t>
            </a:r>
            <a:r>
              <a:rPr lang="fr-FR" dirty="0" err="1"/>
              <a:t>developed</a:t>
            </a:r>
            <a:r>
              <a:rPr lang="fr-FR" dirty="0"/>
              <a:t> by </a:t>
            </a:r>
            <a:r>
              <a:rPr lang="fr-FR" b="1" dirty="0" err="1"/>
              <a:t>Databricks</a:t>
            </a:r>
            <a:r>
              <a:rPr lang="fr-FR" dirty="0"/>
              <a:t> to manage ML </a:t>
            </a:r>
            <a:r>
              <a:rPr lang="fr-FR" dirty="0" err="1"/>
              <a:t>models</a:t>
            </a:r>
            <a:r>
              <a:rPr lang="fr-FR" dirty="0"/>
              <a:t> </a:t>
            </a:r>
            <a:r>
              <a:rPr lang="fr-FR" dirty="0" err="1"/>
              <a:t>lifecycles</a:t>
            </a:r>
            <a:r>
              <a:rPr lang="fr-FR" dirty="0"/>
              <a:t>. A </a:t>
            </a:r>
            <a:r>
              <a:rPr lang="fr-FR" dirty="0" err="1"/>
              <a:t>comprehensive</a:t>
            </a:r>
            <a:r>
              <a:rPr lang="fr-FR" dirty="0"/>
              <a:t> solution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experimentation</a:t>
            </a:r>
            <a:r>
              <a:rPr lang="fr-FR" dirty="0"/>
              <a:t> to </a:t>
            </a:r>
            <a:r>
              <a:rPr lang="fr-FR" dirty="0" err="1"/>
              <a:t>deployment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The </a:t>
            </a:r>
            <a:r>
              <a:rPr lang="fr-FR" b="1" dirty="0"/>
              <a:t>4</a:t>
            </a:r>
            <a:r>
              <a:rPr lang="fr-FR" dirty="0"/>
              <a:t> main components of </a:t>
            </a:r>
            <a:r>
              <a:rPr lang="fr-FR" dirty="0" err="1"/>
              <a:t>MLFlow</a:t>
            </a:r>
            <a:r>
              <a:rPr lang="fr-FR" dirty="0"/>
              <a:t>:</a:t>
            </a:r>
            <a:endParaRPr lang="fr-FR" b="1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14</a:t>
            </a:fld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932" y="2436943"/>
            <a:ext cx="8279606" cy="1564481"/>
          </a:xfrm>
          <a:prstGeom prst="rect">
            <a:avLst/>
          </a:prstGeom>
        </p:spPr>
      </p:pic>
      <p:sp>
        <p:nvSpPr>
          <p:cNvPr id="10" name="Espace réservé du texte 2"/>
          <p:cNvSpPr txBox="1">
            <a:spLocks/>
          </p:cNvSpPr>
          <p:nvPr/>
        </p:nvSpPr>
        <p:spPr bwMode="auto">
          <a:xfrm>
            <a:off x="7531252" y="4353583"/>
            <a:ext cx="1552298" cy="297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900" i="1" dirty="0"/>
              <a:t>Source : mlflow.org</a:t>
            </a:r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820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Machine Learning Continuous Integration with MLflow · All thing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656" y="1565406"/>
            <a:ext cx="6886575" cy="2864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 </a:t>
            </a:r>
            <a:r>
              <a:rPr lang="fr-FR" dirty="0" err="1"/>
              <a:t>universal</a:t>
            </a:r>
            <a:r>
              <a:rPr lang="fr-FR" dirty="0"/>
              <a:t> solution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15</a:t>
            </a:fld>
            <a:endParaRPr lang="fr-FR" dirty="0"/>
          </a:p>
        </p:txBody>
      </p:sp>
      <p:sp>
        <p:nvSpPr>
          <p:cNvPr id="8" name="Espace réservé du texte 2"/>
          <p:cNvSpPr>
            <a:spLocks noGrp="1"/>
          </p:cNvSpPr>
          <p:nvPr>
            <p:ph type="body" sz="quarter" idx="14"/>
          </p:nvPr>
        </p:nvSpPr>
        <p:spPr>
          <a:xfrm>
            <a:off x="326265" y="1176338"/>
            <a:ext cx="1232372" cy="389068"/>
          </a:xfrm>
        </p:spPr>
        <p:txBody>
          <a:bodyPr/>
          <a:lstStyle/>
          <a:p>
            <a:pPr marL="0" indent="0">
              <a:buNone/>
            </a:pPr>
            <a:r>
              <a:rPr lang="fr-FR" sz="1200" dirty="0"/>
              <a:t>High compatibility </a:t>
            </a:r>
            <a:r>
              <a:rPr lang="fr-FR" sz="1200" dirty="0" err="1"/>
              <a:t>with</a:t>
            </a:r>
            <a:r>
              <a:rPr lang="fr-FR" sz="1200" dirty="0"/>
              <a:t> ML </a:t>
            </a:r>
            <a:r>
              <a:rPr lang="fr-FR" sz="1200" dirty="0" err="1"/>
              <a:t>frameworks</a:t>
            </a:r>
            <a:endParaRPr lang="fr-FR" sz="1200" dirty="0"/>
          </a:p>
        </p:txBody>
      </p:sp>
      <p:sp>
        <p:nvSpPr>
          <p:cNvPr id="9" name="Espace réservé du texte 2"/>
          <p:cNvSpPr txBox="1">
            <a:spLocks/>
          </p:cNvSpPr>
          <p:nvPr/>
        </p:nvSpPr>
        <p:spPr bwMode="auto">
          <a:xfrm>
            <a:off x="6910637" y="1176338"/>
            <a:ext cx="1467900" cy="389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1200" dirty="0"/>
          </a:p>
        </p:txBody>
      </p:sp>
      <p:sp>
        <p:nvSpPr>
          <p:cNvPr id="11" name="Espace réservé du texte 2"/>
          <p:cNvSpPr txBox="1">
            <a:spLocks/>
          </p:cNvSpPr>
          <p:nvPr/>
        </p:nvSpPr>
        <p:spPr bwMode="auto">
          <a:xfrm>
            <a:off x="7238494" y="1175039"/>
            <a:ext cx="1467900" cy="389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fr-FR" sz="18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612775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Browallia New" panose="020B0604020202020204" pitchFamily="34" charset="-34"/>
              <a:buChar char="›"/>
              <a:defRPr lang="fr-FR" sz="16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920750" indent="-34290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alibri" panose="020F0502020204030204" pitchFamily="34" charset="0"/>
              <a:buChar char="»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1165225" indent="-285750" algn="l" rtl="0" eaLnBrk="1" fontAlgn="base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‑"/>
              <a:defRPr lang="fr-FR" sz="1400" b="0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Browallia New" panose="020B0604020202020204" pitchFamily="34" charset="-34"/>
                <a:ea typeface="+mn-ea"/>
                <a:cs typeface="Browallia New" panose="020B0604020202020204" pitchFamily="34" charset="-3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fr-FR" sz="1200" dirty="0"/>
              <a:t>High compatibility </a:t>
            </a:r>
            <a:r>
              <a:rPr lang="fr-FR" sz="1200" dirty="0" err="1"/>
              <a:t>with</a:t>
            </a:r>
            <a:r>
              <a:rPr lang="fr-FR" sz="1200" dirty="0"/>
              <a:t> </a:t>
            </a:r>
            <a:r>
              <a:rPr lang="fr-FR" sz="1200" dirty="0" err="1"/>
              <a:t>deployment</a:t>
            </a:r>
            <a:r>
              <a:rPr lang="fr-FR" sz="1200" dirty="0"/>
              <a:t> </a:t>
            </a:r>
            <a:r>
              <a:rPr lang="fr-FR" sz="1200" dirty="0" err="1"/>
              <a:t>platforms</a:t>
            </a:r>
            <a:r>
              <a:rPr lang="fr-FR" sz="1200" dirty="0"/>
              <a:t> 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493" y="4065867"/>
            <a:ext cx="561941" cy="561941"/>
          </a:xfrm>
          <a:prstGeom prst="rect">
            <a:avLst/>
          </a:prstGeom>
        </p:spPr>
      </p:pic>
      <p:sp>
        <p:nvSpPr>
          <p:cNvPr id="13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2761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When</a:t>
            </a:r>
            <a:r>
              <a:rPr lang="fr-FR" dirty="0"/>
              <a:t> to use MLFlow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16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127455-F0F5-76B1-21C5-5B32C70D5CE9}"/>
              </a:ext>
            </a:extLst>
          </p:cNvPr>
          <p:cNvSpPr/>
          <p:nvPr/>
        </p:nvSpPr>
        <p:spPr>
          <a:xfrm>
            <a:off x="548640" y="1173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BDB26B5-144F-D788-3E32-90BED80C807B}"/>
              </a:ext>
            </a:extLst>
          </p:cNvPr>
          <p:cNvSpPr/>
          <p:nvPr/>
        </p:nvSpPr>
        <p:spPr>
          <a:xfrm>
            <a:off x="548640" y="1173480"/>
            <a:ext cx="54864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B72635D-F412-6FDF-8722-3421F072F0B8}"/>
              </a:ext>
            </a:extLst>
          </p:cNvPr>
          <p:cNvSpPr/>
          <p:nvPr/>
        </p:nvSpPr>
        <p:spPr>
          <a:xfrm>
            <a:off x="777240" y="14020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3B5F2CE-50FA-8D7D-5536-E74CD6D63FCC}"/>
              </a:ext>
            </a:extLst>
          </p:cNvPr>
          <p:cNvSpPr/>
          <p:nvPr/>
        </p:nvSpPr>
        <p:spPr>
          <a:xfrm>
            <a:off x="777240" y="140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1C63F7C-C823-D0FF-7294-A61344FE1ABD}"/>
              </a:ext>
            </a:extLst>
          </p:cNvPr>
          <p:cNvSpPr/>
          <p:nvPr/>
        </p:nvSpPr>
        <p:spPr>
          <a:xfrm>
            <a:off x="1371600" y="1283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Solo projects (local)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33FDE7A-8BD0-BB46-068A-9873457F828F}"/>
              </a:ext>
            </a:extLst>
          </p:cNvPr>
          <p:cNvSpPr/>
          <p:nvPr/>
        </p:nvSpPr>
        <p:spPr>
          <a:xfrm>
            <a:off x="1371600" y="1612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When training one or more ML models on your own machine. MLflow is lightweight — track experiment results without heavy dependencies.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F582C3A-4AA6-490B-2FEA-F595CE85C6BB}"/>
              </a:ext>
            </a:extLst>
          </p:cNvPr>
          <p:cNvSpPr/>
          <p:nvPr/>
        </p:nvSpPr>
        <p:spPr>
          <a:xfrm>
            <a:off x="548640" y="2316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F7A1C67-CA40-FC40-4125-9268BBD42A68}"/>
              </a:ext>
            </a:extLst>
          </p:cNvPr>
          <p:cNvSpPr/>
          <p:nvPr/>
        </p:nvSpPr>
        <p:spPr>
          <a:xfrm>
            <a:off x="548640" y="2316480"/>
            <a:ext cx="54864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1219F6-49D2-0B76-E4DB-C96001EB315E}"/>
              </a:ext>
            </a:extLst>
          </p:cNvPr>
          <p:cNvSpPr/>
          <p:nvPr/>
        </p:nvSpPr>
        <p:spPr>
          <a:xfrm>
            <a:off x="777240" y="2545080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BBD760-1773-5E36-2057-51C384A94DF9}"/>
              </a:ext>
            </a:extLst>
          </p:cNvPr>
          <p:cNvSpPr/>
          <p:nvPr/>
        </p:nvSpPr>
        <p:spPr>
          <a:xfrm>
            <a:off x="777240" y="2545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D93ABD8-00BF-7AA6-EBFD-F91C10AF67CD}"/>
              </a:ext>
            </a:extLst>
          </p:cNvPr>
          <p:cNvSpPr/>
          <p:nvPr/>
        </p:nvSpPr>
        <p:spPr>
          <a:xfrm>
            <a:off x="1371600" y="2426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Team projects</a:t>
            </a:r>
            <a:endParaRPr lang="en-US" sz="15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B68912D-AF72-769B-CBB8-717B5313D398}"/>
              </a:ext>
            </a:extLst>
          </p:cNvPr>
          <p:cNvSpPr/>
          <p:nvPr/>
        </p:nvSpPr>
        <p:spPr>
          <a:xfrm>
            <a:off x="1371600" y="2755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Share hyperparameters, metrics, and KPIs on the same model across your team. Everyone sees the same experiment history.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02DADD8-0B95-1318-51A0-33AE8B516364}"/>
              </a:ext>
            </a:extLst>
          </p:cNvPr>
          <p:cNvSpPr/>
          <p:nvPr/>
        </p:nvSpPr>
        <p:spPr>
          <a:xfrm>
            <a:off x="548640" y="3459480"/>
            <a:ext cx="804672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E9760EA-CD46-84BD-47DA-369CB412EFAA}"/>
              </a:ext>
            </a:extLst>
          </p:cNvPr>
          <p:cNvSpPr/>
          <p:nvPr/>
        </p:nvSpPr>
        <p:spPr>
          <a:xfrm>
            <a:off x="548640" y="3459480"/>
            <a:ext cx="54864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8CFF72A-674E-182A-3AFB-9A96B9743E9F}"/>
              </a:ext>
            </a:extLst>
          </p:cNvPr>
          <p:cNvSpPr/>
          <p:nvPr/>
        </p:nvSpPr>
        <p:spPr>
          <a:xfrm>
            <a:off x="777240" y="36880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86C407A-1D20-BF9F-04B8-98B7667CDA68}"/>
              </a:ext>
            </a:extLst>
          </p:cNvPr>
          <p:cNvSpPr/>
          <p:nvPr/>
        </p:nvSpPr>
        <p:spPr>
          <a:xfrm>
            <a:off x="777240" y="3688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6815E32-86FE-6470-A71B-A57FE7CBDAA3}"/>
              </a:ext>
            </a:extLst>
          </p:cNvPr>
          <p:cNvSpPr/>
          <p:nvPr/>
        </p:nvSpPr>
        <p:spPr>
          <a:xfrm>
            <a:off x="1371600" y="3569208"/>
            <a:ext cx="40919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ea typeface="Trebuchet MS" pitchFamily="34" charset="-122"/>
                <a:cs typeface="Trebuchet MS" pitchFamily="34" charset="-120"/>
              </a:rPr>
              <a:t>Production pipelines (cloud / on-premise)</a:t>
            </a:r>
            <a:endParaRPr lang="en-US" sz="15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8032C9C-5FE4-807C-4DB7-7B5BE5CC0826}"/>
              </a:ext>
            </a:extLst>
          </p:cNvPr>
          <p:cNvSpPr/>
          <p:nvPr/>
        </p:nvSpPr>
        <p:spPr>
          <a:xfrm>
            <a:off x="1371600" y="389839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ea typeface="Calibri" pitchFamily="34" charset="-122"/>
                <a:cs typeface="Calibri" pitchFamily="34" charset="-120"/>
              </a:rPr>
              <a:t>MLflow hosts and deploys models. Separating training and deployment pipelines improves maintenance, security, and reliability.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97595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r>
              <a:rPr lang="fr-FR" dirty="0"/>
              <a:t> &amp; </a:t>
            </a:r>
            <a:r>
              <a:rPr lang="fr-FR" dirty="0" err="1"/>
              <a:t>Resources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17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62627B01-911E-8CEC-547D-2DC483113344}"/>
              </a:ext>
            </a:extLst>
          </p:cNvPr>
          <p:cNvSpPr/>
          <p:nvPr/>
        </p:nvSpPr>
        <p:spPr>
          <a:xfrm>
            <a:off x="548640" y="1234440"/>
            <a:ext cx="5029200" cy="24124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D0B6BC73-6E59-3C4C-A54C-E29BAD27F1A5}"/>
              </a:ext>
            </a:extLst>
          </p:cNvPr>
          <p:cNvSpPr/>
          <p:nvPr/>
        </p:nvSpPr>
        <p:spPr>
          <a:xfrm>
            <a:off x="548640" y="1234440"/>
            <a:ext cx="54864" cy="241249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A76D05D1-5449-30A9-BBB6-251918712253}"/>
              </a:ext>
            </a:extLst>
          </p:cNvPr>
          <p:cNvSpPr/>
          <p:nvPr/>
        </p:nvSpPr>
        <p:spPr>
          <a:xfrm>
            <a:off x="77724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ea typeface="Trebuchet MS" pitchFamily="34" charset="-122"/>
                <a:cs typeface="Trebuchet MS" pitchFamily="34" charset="-120"/>
              </a:rPr>
              <a:t>Lab 01 — MLflow Experiment Tracking</a:t>
            </a:r>
            <a:endParaRPr lang="en-US" sz="1600" dirty="0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19FCB265-E1E7-09AA-5211-7D2B70AD0A2D}"/>
              </a:ext>
            </a:extLst>
          </p:cNvPr>
          <p:cNvSpPr/>
          <p:nvPr/>
        </p:nvSpPr>
        <p:spPr>
          <a:xfrm>
            <a:off x="7772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ea typeface="Calibri" pitchFamily="34" charset="-122"/>
                <a:cs typeface="Calibri" pitchFamily="34" charset="-120"/>
              </a:rPr>
              <a:t>~2h30  |  German Credit Risk dataset</a:t>
            </a:r>
            <a:endParaRPr lang="en-US" sz="1100" dirty="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AD138B40-F698-08D2-C04B-32D3DBC28231}"/>
              </a:ext>
            </a:extLst>
          </p:cNvPr>
          <p:cNvSpPr/>
          <p:nvPr/>
        </p:nvSpPr>
        <p:spPr>
          <a:xfrm>
            <a:off x="5943600" y="1234440"/>
            <a:ext cx="2743200" cy="24124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628CA839-1282-F302-5D78-4C9AE63FB55E}"/>
              </a:ext>
            </a:extLst>
          </p:cNvPr>
          <p:cNvSpPr/>
          <p:nvPr/>
        </p:nvSpPr>
        <p:spPr>
          <a:xfrm>
            <a:off x="5943600" y="1234440"/>
            <a:ext cx="54864" cy="24124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EDEB5970-149C-583F-F2FA-D94857ABE3D2}"/>
              </a:ext>
            </a:extLst>
          </p:cNvPr>
          <p:cNvSpPr/>
          <p:nvPr/>
        </p:nvSpPr>
        <p:spPr>
          <a:xfrm>
            <a:off x="6126480" y="1325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ea typeface="Trebuchet MS" pitchFamily="34" charset="-122"/>
                <a:cs typeface="Trebuchet MS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4096B3F-653A-74D1-DF63-A674F6F87645}"/>
              </a:ext>
            </a:extLst>
          </p:cNvPr>
          <p:cNvSpPr/>
          <p:nvPr/>
        </p:nvSpPr>
        <p:spPr>
          <a:xfrm>
            <a:off x="777240" y="2011680"/>
            <a:ext cx="45720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What you will learn: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Launch &amp; connect to an MLflow tracking server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Log parameters, metrics, and artifacts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Compare runs using the MLflow UI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Automate hyperparameter search with Optuna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Register and version models in the Model Registry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Load a registered model for inference</a:t>
            </a:r>
            <a:endParaRPr lang="en-US" sz="12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F8298D38-ED21-089D-3F9D-DB54A38DF7DC}"/>
              </a:ext>
            </a:extLst>
          </p:cNvPr>
          <p:cNvSpPr/>
          <p:nvPr/>
        </p:nvSpPr>
        <p:spPr>
          <a:xfrm>
            <a:off x="6126480" y="1836420"/>
            <a:ext cx="2377440" cy="1684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Papers: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hlinkClick r:id="rId2"/>
              </a:rPr>
              <a:t>Hidden Technical Debt in ML Systems (Google, 2015)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000" dirty="0">
              <a:hlinkClick r:id="rId3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hlinkClick r:id="rId3"/>
              </a:rPr>
              <a:t>Build &amp; Deploy GenAI/ML in the Enterprise (Google, 2024)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</a:rPr>
              <a:t>MLflow docs: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hlinkClick r:id="rId4"/>
              </a:rPr>
              <a:t>mlflow.org/docs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5510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Today’s</a:t>
            </a:r>
            <a:r>
              <a:rPr lang="fr-FR" dirty="0"/>
              <a:t> </a:t>
            </a:r>
            <a:r>
              <a:rPr lang="fr-FR" dirty="0" err="1"/>
              <a:t>Lab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4FEB08F-923E-484A-9FC5-0AA7BDA29BD6}" type="slidenum">
              <a:rPr lang="fr-FR" smtClean="0"/>
              <a:pPr>
                <a:defRPr/>
              </a:pPr>
              <a:t>18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3931" y="4805046"/>
            <a:ext cx="4254012" cy="273844"/>
          </a:xfrm>
        </p:spPr>
        <p:txBody>
          <a:bodyPr/>
          <a:lstStyle/>
          <a:p>
            <a:r>
              <a:rPr lang="en-US" dirty="0"/>
              <a:t>2026 | ©HeadMind Partners AI &amp; Blockchain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4CE7AE-AFA1-CBB6-AB21-37A3D79C9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2926" y="1013053"/>
            <a:ext cx="8352928" cy="830987"/>
          </a:xfrm>
        </p:spPr>
        <p:txBody>
          <a:bodyPr/>
          <a:lstStyle/>
          <a:p>
            <a:pPr marL="0" indent="0">
              <a:buNone/>
            </a:pPr>
            <a:endParaRPr lang="fr-FR" dirty="0">
              <a:latin typeface="+mn-lt"/>
            </a:endParaRPr>
          </a:p>
          <a:p>
            <a:pPr marL="0" indent="0">
              <a:buNone/>
            </a:pPr>
            <a:r>
              <a:rPr lang="fr-FR" dirty="0" err="1">
                <a:latin typeface="+mn-lt"/>
              </a:rPr>
              <a:t>Completed</a:t>
            </a:r>
            <a:r>
              <a:rPr lang="fr-FR" dirty="0">
                <a:latin typeface="+mn-lt"/>
              </a:rPr>
              <a:t> notebook must </a:t>
            </a:r>
            <a:r>
              <a:rPr lang="fr-FR" dirty="0" err="1">
                <a:latin typeface="+mn-lt"/>
              </a:rPr>
              <a:t>be</a:t>
            </a:r>
            <a:r>
              <a:rPr lang="fr-FR" dirty="0">
                <a:latin typeface="+mn-lt"/>
              </a:rPr>
              <a:t> sent to:          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  <a:hlinkClick r:id="rId2"/>
              </a:rPr>
              <a:t>jdiamant280@headmind.com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 algn="ctr">
              <a:buNone/>
            </a:pP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92ED7DE-D6D9-2CB1-F94A-C0E8A15584DB}"/>
              </a:ext>
            </a:extLst>
          </p:cNvPr>
          <p:cNvSpPr/>
          <p:nvPr/>
        </p:nvSpPr>
        <p:spPr>
          <a:xfrm>
            <a:off x="548640" y="3292355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ea typeface="+mj-ea"/>
              </a:rPr>
              <a:t>Let's get started!</a:t>
            </a:r>
          </a:p>
        </p:txBody>
      </p:sp>
    </p:spTree>
    <p:extLst>
      <p:ext uri="{BB962C8B-B14F-4D97-AF65-F5344CB8AC3E}">
        <p14:creationId xmlns:p14="http://schemas.microsoft.com/office/powerpoint/2010/main" val="127326432"/>
      </p:ext>
    </p:extLst>
  </p:cSld>
  <p:clrMapOvr>
    <a:masterClrMapping/>
  </p:clrMapOvr>
</p:sld>
</file>

<file path=ppt/theme/theme1.xml><?xml version="1.0" encoding="utf-8"?>
<a:theme xmlns:a="http://schemas.openxmlformats.org/drawingml/2006/main" name="2018_Beijaflore_Modèles Slides format 4 tiers">
  <a:themeElements>
    <a:clrScheme name="Charte Beijaflore">
      <a:dk1>
        <a:srgbClr val="051E33"/>
      </a:dk1>
      <a:lt1>
        <a:srgbClr val="FFFFFF"/>
      </a:lt1>
      <a:dk2>
        <a:srgbClr val="003057"/>
      </a:dk2>
      <a:lt2>
        <a:srgbClr val="E8E8E8"/>
      </a:lt2>
      <a:accent1>
        <a:srgbClr val="051E33"/>
      </a:accent1>
      <a:accent2>
        <a:srgbClr val="003057"/>
      </a:accent2>
      <a:accent3>
        <a:srgbClr val="2E75B6"/>
      </a:accent3>
      <a:accent4>
        <a:srgbClr val="5799D5"/>
      </a:accent4>
      <a:accent5>
        <a:srgbClr val="9DC3E6"/>
      </a:accent5>
      <a:accent6>
        <a:srgbClr val="CEE1F2"/>
      </a:accent6>
      <a:hlink>
        <a:srgbClr val="2E75B6"/>
      </a:hlink>
      <a:folHlink>
        <a:srgbClr val="9DC3E6"/>
      </a:folHlink>
    </a:clrScheme>
    <a:fontScheme name="Charte Beijaflore">
      <a:majorFont>
        <a:latin typeface="Franklin Gothic Boo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arte_16-9_AI___Blockchain" id="{C909FFE9-EA26-4484-BD64-331601998564}" vid="{BB68EFE2-2BB7-454C-9063-FC7CC55CED5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Charte_16-9_AI_&amp;_Blockchain</Template>
  <TotalTime>3152</TotalTime>
  <Words>1121</Words>
  <Application>Microsoft Office PowerPoint</Application>
  <PresentationFormat>Affichage à l'écran (16:9)</PresentationFormat>
  <Paragraphs>209</Paragraphs>
  <Slides>18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9" baseType="lpstr">
      <vt:lpstr>Arial</vt:lpstr>
      <vt:lpstr>Bodoni 72 Bold</vt:lpstr>
      <vt:lpstr>Browallia New</vt:lpstr>
      <vt:lpstr>Calibri</vt:lpstr>
      <vt:lpstr>Consolas</vt:lpstr>
      <vt:lpstr>Franklin Gothic Book</vt:lpstr>
      <vt:lpstr>Segoe UI</vt:lpstr>
      <vt:lpstr>Segoe UI Semibold</vt:lpstr>
      <vt:lpstr>Trebuchet MS</vt:lpstr>
      <vt:lpstr>Wingdings</vt:lpstr>
      <vt:lpstr>2018_Beijaflore_Modèles Slides format 4 tiers</vt:lpstr>
      <vt:lpstr>Présentation PowerPoint</vt:lpstr>
      <vt:lpstr>What is MLOps?</vt:lpstr>
      <vt:lpstr>Présentation PowerPoint</vt:lpstr>
      <vt:lpstr>MLOps = DevOps applied to Machine Learning</vt:lpstr>
      <vt:lpstr>To put it straightforward</vt:lpstr>
      <vt:lpstr>What does a typical ML project look like ?</vt:lpstr>
      <vt:lpstr>Challenges when deploying ML models</vt:lpstr>
      <vt:lpstr>ML projects are complex – Far beyond just code</vt:lpstr>
      <vt:lpstr>MLOps worfklow</vt:lpstr>
      <vt:lpstr>Deploying a ML project involves many data experts</vt:lpstr>
      <vt:lpstr>MLOps comes hand-in-hand with Cloud</vt:lpstr>
      <vt:lpstr>Présentation PowerPoint</vt:lpstr>
      <vt:lpstr>MLFlow follows the trend of increasing interest for MLOps</vt:lpstr>
      <vt:lpstr>What is MLFlow ?</vt:lpstr>
      <vt:lpstr>A universal solution</vt:lpstr>
      <vt:lpstr>When to use MLFlow ?</vt:lpstr>
      <vt:lpstr>Today’s Lab &amp; Resources</vt:lpstr>
      <vt:lpstr>Today’s Lab</vt:lpstr>
    </vt:vector>
  </TitlesOfParts>
  <Company>Beijaflore.com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L’IA pour créer vos business de demain</dc:title>
  <dc:creator>Valentin Yiu</dc:creator>
  <cp:lastModifiedBy>Diamant, Jean</cp:lastModifiedBy>
  <cp:revision>139</cp:revision>
  <dcterms:created xsi:type="dcterms:W3CDTF">2022-01-04T11:05:22Z</dcterms:created>
  <dcterms:modified xsi:type="dcterms:W3CDTF">2026-03-08T19:16:16Z</dcterms:modified>
</cp:coreProperties>
</file>